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81" r:id="rId2"/>
    <p:sldId id="256" r:id="rId3"/>
    <p:sldId id="258" r:id="rId4"/>
    <p:sldId id="259" r:id="rId5"/>
    <p:sldId id="260" r:id="rId6"/>
    <p:sldId id="261" r:id="rId7"/>
    <p:sldId id="262" r:id="rId8"/>
    <p:sldId id="263" r:id="rId9"/>
    <p:sldId id="264" r:id="rId10"/>
    <p:sldId id="265" r:id="rId11"/>
    <p:sldId id="279" r:id="rId12"/>
    <p:sldId id="275" r:id="rId13"/>
    <p:sldId id="274" r:id="rId14"/>
    <p:sldId id="278" r:id="rId15"/>
    <p:sldId id="276" r:id="rId16"/>
    <p:sldId id="277"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6" autoAdjust="0"/>
    <p:restoredTop sz="94610"/>
  </p:normalViewPr>
  <p:slideViewPr>
    <p:cSldViewPr snapToGrid="0" snapToObjects="1">
      <p:cViewPr varScale="1">
        <p:scale>
          <a:sx n="63" d="100"/>
          <a:sy n="63" d="100"/>
        </p:scale>
        <p:origin x="804"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51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jpeg"/></Relationships>
</file>

<file path=ppt/slides/_rels/slide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jpe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8.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7.png"/><Relationship Id="rId7"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18.png"/><Relationship Id="rId9" Type="http://schemas.openxmlformats.org/officeDocument/2006/relationships/image" Target="../media/image41.jpeg"/></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BABE8B1D-84BB-03B7-FD36-CBB515A0905C}"/>
              </a:ext>
            </a:extLst>
          </p:cNvPr>
          <p:cNvPicPr>
            <a:picLocks noChangeAspect="1"/>
          </p:cNvPicPr>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4061733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04952" y="1904952"/>
            <a:ext cx="5079873" cy="4907328"/>
          </a:xfrm>
          <a:prstGeom prst="rect">
            <a:avLst/>
          </a:prstGeom>
        </p:spPr>
      </p:pic>
      <p:pic>
        <p:nvPicPr>
          <p:cNvPr id="3" name="Image 1" descr="preencoded.png"/>
          <p:cNvPicPr>
            <a:picLocks noChangeAspect="1"/>
          </p:cNvPicPr>
          <p:nvPr/>
        </p:nvPicPr>
        <p:blipFill>
          <a:blip r:embed="rId4"/>
          <a:stretch>
            <a:fillRect/>
          </a:stretch>
        </p:blipFill>
        <p:spPr>
          <a:xfrm>
            <a:off x="9016775" y="1904952"/>
            <a:ext cx="3129201" cy="4907328"/>
          </a:xfrm>
          <a:prstGeom prst="rect">
            <a:avLst/>
          </a:prstGeom>
        </p:spPr>
      </p:pic>
      <p:pic>
        <p:nvPicPr>
          <p:cNvPr id="4" name="Image 2" descr="preencoded.png"/>
          <p:cNvPicPr>
            <a:picLocks noChangeAspect="1"/>
          </p:cNvPicPr>
          <p:nvPr/>
        </p:nvPicPr>
        <p:blipFill>
          <a:blip r:embed="rId5"/>
          <a:stretch>
            <a:fillRect/>
          </a:stretch>
        </p:blipFill>
        <p:spPr>
          <a:xfrm>
            <a:off x="380990" y="380990"/>
            <a:ext cx="761981" cy="761981"/>
          </a:xfrm>
          <a:prstGeom prst="rect">
            <a:avLst/>
          </a:prstGeom>
        </p:spPr>
      </p:pic>
      <p:pic>
        <p:nvPicPr>
          <p:cNvPr id="5" name="Image 3" descr="preencoded.png"/>
          <p:cNvPicPr>
            <a:picLocks noChangeAspect="1"/>
          </p:cNvPicPr>
          <p:nvPr/>
        </p:nvPicPr>
        <p:blipFill>
          <a:blip r:embed="rId6"/>
          <a:stretch>
            <a:fillRect/>
          </a:stretch>
        </p:blipFill>
        <p:spPr>
          <a:xfrm>
            <a:off x="11048724" y="380990"/>
            <a:ext cx="761981" cy="761981"/>
          </a:xfrm>
          <a:prstGeom prst="rect">
            <a:avLst/>
          </a:prstGeom>
        </p:spPr>
      </p:pic>
      <p:pic>
        <p:nvPicPr>
          <p:cNvPr id="6" name="Image 4" descr="preencoded.png"/>
          <p:cNvPicPr>
            <a:picLocks noChangeAspect="1"/>
          </p:cNvPicPr>
          <p:nvPr/>
        </p:nvPicPr>
        <p:blipFill>
          <a:blip r:embed="rId7"/>
          <a:stretch>
            <a:fillRect/>
          </a:stretch>
        </p:blipFill>
        <p:spPr>
          <a:xfrm>
            <a:off x="380990" y="5714857"/>
            <a:ext cx="761981" cy="761981"/>
          </a:xfrm>
          <a:prstGeom prst="rect">
            <a:avLst/>
          </a:prstGeom>
        </p:spPr>
      </p:pic>
      <p:pic>
        <p:nvPicPr>
          <p:cNvPr id="7" name="Image 5" descr="preencoded.png"/>
          <p:cNvPicPr>
            <a:picLocks noChangeAspect="1"/>
          </p:cNvPicPr>
          <p:nvPr/>
        </p:nvPicPr>
        <p:blipFill>
          <a:blip r:embed="rId8"/>
          <a:stretch>
            <a:fillRect/>
          </a:stretch>
        </p:blipFill>
        <p:spPr>
          <a:xfrm>
            <a:off x="11048724" y="5714857"/>
            <a:ext cx="761981" cy="761981"/>
          </a:xfrm>
          <a:prstGeom prst="rect">
            <a:avLst/>
          </a:prstGeom>
        </p:spPr>
      </p:pic>
      <p:pic>
        <p:nvPicPr>
          <p:cNvPr id="8" name="Image 6" descr="preencoded.png"/>
          <p:cNvPicPr>
            <a:picLocks noChangeAspect="1"/>
          </p:cNvPicPr>
          <p:nvPr/>
        </p:nvPicPr>
        <p:blipFill>
          <a:blip r:embed="rId9"/>
          <a:stretch>
            <a:fillRect/>
          </a:stretch>
        </p:blipFill>
        <p:spPr>
          <a:xfrm>
            <a:off x="0" y="0"/>
            <a:ext cx="12145975" cy="50799"/>
          </a:xfrm>
          <a:prstGeom prst="rect">
            <a:avLst/>
          </a:prstGeom>
        </p:spPr>
      </p:pic>
      <p:pic>
        <p:nvPicPr>
          <p:cNvPr id="9" name="Image 7" descr="preencoded.png"/>
          <p:cNvPicPr>
            <a:picLocks noChangeAspect="1"/>
          </p:cNvPicPr>
          <p:nvPr/>
        </p:nvPicPr>
        <p:blipFill>
          <a:blip r:embed="rId10"/>
          <a:stretch>
            <a:fillRect/>
          </a:stretch>
        </p:blipFill>
        <p:spPr>
          <a:xfrm>
            <a:off x="0" y="6807030"/>
            <a:ext cx="12145975" cy="5250"/>
          </a:xfrm>
          <a:prstGeom prst="rect">
            <a:avLst/>
          </a:prstGeom>
        </p:spPr>
      </p:pic>
      <p:sp>
        <p:nvSpPr>
          <p:cNvPr id="10" name="Text 0"/>
          <p:cNvSpPr/>
          <p:nvPr/>
        </p:nvSpPr>
        <p:spPr>
          <a:xfrm>
            <a:off x="1015975" y="1904952"/>
            <a:ext cx="9905752" cy="1523962"/>
          </a:xfrm>
          <a:prstGeom prst="rect">
            <a:avLst/>
          </a:prstGeom>
          <a:noFill/>
          <a:ln/>
        </p:spPr>
        <p:txBody>
          <a:bodyPr wrap="square" lIns="1016" tIns="1016" rIns="1016" bIns="1016" rtlCol="0" anchor="t"/>
          <a:lstStyle/>
          <a:p>
            <a:pPr marL="0" indent="0" algn="l">
              <a:lnSpc>
                <a:spcPct val="120000"/>
              </a:lnSpc>
              <a:buNone/>
            </a:pPr>
            <a:r>
              <a:rPr lang="en-US" sz="4300" b="1" dirty="0">
                <a:solidFill>
                  <a:srgbClr val="00FFFF"/>
                </a:solidFill>
                <a:latin typeface="Trebuchet MS" pitchFamily="34" charset="0"/>
                <a:ea typeface="Trebuchet MS" pitchFamily="34" charset="-122"/>
                <a:cs typeface="Trebuchet MS" pitchFamily="34" charset="-120"/>
              </a:rPr>
              <a:t>PERSONAL FILE ORGANIZER PROJECT</a:t>
            </a:r>
            <a:r>
              <a:rPr lang="en-US" sz="4100" dirty="0">
                <a:solidFill>
                  <a:srgbClr val="00FFFF"/>
                </a:solidFill>
                <a:latin typeface="Trebuchet MS" pitchFamily="34" charset="0"/>
                <a:ea typeface="Trebuchet MS" pitchFamily="34" charset="-122"/>
                <a:cs typeface="Trebuchet MS" pitchFamily="34" charset="-120"/>
              </a:rPr>
              <a:t>
</a:t>
            </a:r>
            <a:endParaRPr lang="en-US" sz="4300" dirty="0"/>
          </a:p>
        </p:txBody>
      </p:sp>
      <p:sp>
        <p:nvSpPr>
          <p:cNvPr id="11" name="Text 1"/>
          <p:cNvSpPr/>
          <p:nvPr/>
        </p:nvSpPr>
        <p:spPr>
          <a:xfrm>
            <a:off x="1015975" y="6476838"/>
            <a:ext cx="3809905" cy="304792"/>
          </a:xfrm>
          <a:prstGeom prst="rect">
            <a:avLst/>
          </a:prstGeom>
          <a:noFill/>
          <a:ln/>
        </p:spPr>
        <p:txBody>
          <a:bodyPr wrap="square" lIns="1016" tIns="1016" rIns="1016" bIns="1016" rtlCol="0" anchor="t"/>
          <a:lstStyle/>
          <a:p>
            <a:pPr marL="0" indent="0" algn="l">
              <a:lnSpc>
                <a:spcPct val="140000"/>
              </a:lnSpc>
              <a:buNone/>
            </a:pPr>
            <a:r>
              <a:rPr lang="en-US" sz="1400" dirty="0">
                <a:solidFill>
                  <a:srgbClr val="B8C5D6"/>
                </a:solidFill>
                <a:latin typeface="Calibri" pitchFamily="34" charset="0"/>
                <a:ea typeface="Calibri" pitchFamily="34" charset="-122"/>
                <a:cs typeface="Calibri" pitchFamily="34" charset="-120"/>
              </a:rPr>
              <a:t>mohyareddy gayathri
</a:t>
            </a:r>
            <a:endParaRPr lang="en-US" sz="1400" dirty="0"/>
          </a:p>
        </p:txBody>
      </p:sp>
      <p:sp>
        <p:nvSpPr>
          <p:cNvPr id="12" name="Text 2"/>
          <p:cNvSpPr/>
          <p:nvPr/>
        </p:nvSpPr>
        <p:spPr>
          <a:xfrm>
            <a:off x="4952876" y="6502237"/>
            <a:ext cx="3047924" cy="279393"/>
          </a:xfrm>
          <a:prstGeom prst="rect">
            <a:avLst/>
          </a:prstGeom>
          <a:noFill/>
          <a:ln/>
        </p:spPr>
        <p:txBody>
          <a:bodyPr wrap="square" lIns="1016" tIns="1016" rIns="1016" bIns="1016" rtlCol="0" anchor="t"/>
          <a:lstStyle/>
          <a:p>
            <a:pPr marL="0" indent="0" algn="l">
              <a:lnSpc>
                <a:spcPct val="140000"/>
              </a:lnSpc>
              <a:buNone/>
            </a:pPr>
            <a:r>
              <a:rPr lang="en-US" sz="1200" dirty="0">
                <a:solidFill>
                  <a:srgbClr val="B8C5D6"/>
                </a:solidFill>
                <a:latin typeface="Calibri" pitchFamily="34" charset="0"/>
                <a:ea typeface="Calibri" pitchFamily="34" charset="-122"/>
                <a:cs typeface="Calibri" pitchFamily="34" charset="-120"/>
              </a:rPr>
              <a:t>October 10, 2026
</a:t>
            </a:r>
            <a:endParaRPr lang="en-US" sz="1200" dirty="0"/>
          </a:p>
        </p:txBody>
      </p:sp>
      <p:sp>
        <p:nvSpPr>
          <p:cNvPr id="13" name="Shape 3"/>
          <p:cNvSpPr/>
          <p:nvPr/>
        </p:nvSpPr>
        <p:spPr>
          <a:xfrm>
            <a:off x="1015975" y="1600160"/>
            <a:ext cx="711182" cy="63498"/>
          </a:xfrm>
          <a:prstGeom prst="rect">
            <a:avLst/>
          </a:prstGeom>
          <a:solidFill>
            <a:srgbClr val="00FFFF"/>
          </a:solidFill>
          <a:ln/>
        </p:spPr>
        <p:txBody>
          <a:bodyPr/>
          <a:lstStyle/>
          <a:p>
            <a:endParaRPr lang="en-IN"/>
          </a:p>
        </p:txBody>
      </p:sp>
      <p:sp>
        <p:nvSpPr>
          <p:cNvPr id="14" name="Text 4"/>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524762" y="-634984"/>
            <a:ext cx="2621213" cy="3174921"/>
          </a:xfrm>
          <a:prstGeom prst="rect">
            <a:avLst/>
          </a:prstGeom>
        </p:spPr>
      </p:pic>
      <p:pic>
        <p:nvPicPr>
          <p:cNvPr id="3" name="Image 1" descr="preencoded.png"/>
          <p:cNvPicPr>
            <a:picLocks noChangeAspect="1"/>
          </p:cNvPicPr>
          <p:nvPr/>
        </p:nvPicPr>
        <p:blipFill>
          <a:blip r:embed="rId4"/>
          <a:stretch>
            <a:fillRect/>
          </a:stretch>
        </p:blipFill>
        <p:spPr>
          <a:xfrm>
            <a:off x="-1015975" y="4825879"/>
            <a:ext cx="3809905" cy="1986401"/>
          </a:xfrm>
          <a:prstGeom prst="rect">
            <a:avLst/>
          </a:prstGeom>
        </p:spPr>
      </p:pic>
      <p:pic>
        <p:nvPicPr>
          <p:cNvPr id="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73803" y="761981"/>
            <a:ext cx="1015975" cy="1015975"/>
          </a:xfrm>
          <a:prstGeom prst="rect">
            <a:avLst/>
          </a:prstGeom>
        </p:spPr>
      </p:pic>
      <p:pic>
        <p:nvPicPr>
          <p:cNvPr id="5" name="Image 3" descr="preencoded.png"/>
          <p:cNvPicPr>
            <a:picLocks noChangeAspect="1"/>
          </p:cNvPicPr>
          <p:nvPr/>
        </p:nvPicPr>
        <p:blipFill>
          <a:blip r:embed="rId6"/>
          <a:stretch>
            <a:fillRect/>
          </a:stretch>
        </p:blipFill>
        <p:spPr>
          <a:xfrm>
            <a:off x="11175721" y="5841854"/>
            <a:ext cx="507987" cy="507987"/>
          </a:xfrm>
          <a:prstGeom prst="rect">
            <a:avLst/>
          </a:prstGeom>
        </p:spPr>
      </p:pic>
      <p:pic>
        <p:nvPicPr>
          <p:cNvPr id="6" name="Image 4" descr="preencoded.png"/>
          <p:cNvPicPr>
            <a:picLocks noChangeAspect="1"/>
          </p:cNvPicPr>
          <p:nvPr/>
        </p:nvPicPr>
        <p:blipFill>
          <a:blip r:embed="rId7"/>
          <a:stretch>
            <a:fillRect/>
          </a:stretch>
        </p:blipFill>
        <p:spPr>
          <a:xfrm>
            <a:off x="507987" y="507987"/>
            <a:ext cx="507987" cy="507987"/>
          </a:xfrm>
          <a:prstGeom prst="rect">
            <a:avLst/>
          </a:prstGeom>
        </p:spPr>
      </p:pic>
      <p:pic>
        <p:nvPicPr>
          <p:cNvPr id="7" name="Image 5" descr="preencoded.png"/>
          <p:cNvPicPr>
            <a:picLocks noChangeAspect="1"/>
          </p:cNvPicPr>
          <p:nvPr/>
        </p:nvPicPr>
        <p:blipFill>
          <a:blip r:embed="rId8"/>
          <a:stretch>
            <a:fillRect/>
          </a:stretch>
        </p:blipFill>
        <p:spPr>
          <a:xfrm>
            <a:off x="0" y="0"/>
            <a:ext cx="12145975" cy="38099"/>
          </a:xfrm>
          <a:prstGeom prst="rect">
            <a:avLst/>
          </a:prstGeom>
        </p:spPr>
      </p:pic>
      <p:pic>
        <p:nvPicPr>
          <p:cNvPr id="8" name="Image 6" descr="preencoded.png"/>
          <p:cNvPicPr>
            <a:picLocks noChangeAspect="1"/>
          </p:cNvPicPr>
          <p:nvPr/>
        </p:nvPicPr>
        <p:blipFill>
          <a:blip r:embed="rId9"/>
          <a:stretch>
            <a:fillRect/>
          </a:stretch>
        </p:blipFill>
        <p:spPr>
          <a:xfrm>
            <a:off x="8381790" y="2600613"/>
            <a:ext cx="3047924" cy="1656603"/>
          </a:xfrm>
          <a:prstGeom prst="rect">
            <a:avLst/>
          </a:prstGeom>
        </p:spPr>
      </p:pic>
      <p:sp>
        <p:nvSpPr>
          <p:cNvPr id="9" name="Text 0"/>
          <p:cNvSpPr/>
          <p:nvPr/>
        </p:nvSpPr>
        <p:spPr>
          <a:xfrm>
            <a:off x="1015975" y="1803355"/>
            <a:ext cx="6756231" cy="1193770"/>
          </a:xfrm>
          <a:prstGeom prst="rect">
            <a:avLst/>
          </a:prstGeom>
          <a:noFill/>
          <a:ln/>
        </p:spPr>
        <p:txBody>
          <a:bodyPr wrap="square" lIns="1016" tIns="1016" rIns="1016" bIns="1016" rtlCol="0" anchor="t"/>
          <a:lstStyle/>
          <a:p>
            <a:pPr marL="0" indent="0" algn="l">
              <a:lnSpc>
                <a:spcPct val="110000"/>
              </a:lnSpc>
              <a:buNone/>
            </a:pPr>
            <a:r>
              <a:rPr lang="en-US" sz="3600" i="1" dirty="0">
                <a:solidFill>
                  <a:srgbClr val="00FFFF"/>
                </a:solidFill>
                <a:latin typeface="Trebuchet MS" pitchFamily="34" charset="0"/>
                <a:ea typeface="Trebuchet MS" pitchFamily="34" charset="-122"/>
                <a:cs typeface="Trebuchet MS" pitchFamily="34" charset="-120"/>
              </a:rPr>
              <a:t>Personal File Organizer Project</a:t>
            </a:r>
            <a:r>
              <a:rPr lang="en-US" sz="3200" dirty="0">
                <a:solidFill>
                  <a:srgbClr val="00FFFF"/>
                </a:solidFill>
                <a:latin typeface="Trebuchet MS" pitchFamily="34" charset="0"/>
                <a:ea typeface="Trebuchet MS" pitchFamily="34" charset="-122"/>
                <a:cs typeface="Trebuchet MS" pitchFamily="34" charset="-120"/>
              </a:rPr>
              <a:t>
</a:t>
            </a:r>
            <a:endParaRPr lang="en-US" sz="3600" dirty="0"/>
          </a:p>
        </p:txBody>
      </p:sp>
      <p:sp>
        <p:nvSpPr>
          <p:cNvPr id="10" name="Text 1"/>
          <p:cNvSpPr/>
          <p:nvPr/>
        </p:nvSpPr>
        <p:spPr>
          <a:xfrm>
            <a:off x="1015975" y="3276518"/>
            <a:ext cx="6603835" cy="2692333"/>
          </a:xfrm>
          <a:prstGeom prst="rect">
            <a:avLst/>
          </a:prstGeom>
          <a:noFill/>
          <a:ln/>
        </p:spPr>
        <p:txBody>
          <a:bodyPr wrap="square" lIns="1016" tIns="1016" rIns="1016" bIns="1016" rtlCol="0" anchor="t"/>
          <a:lstStyle/>
          <a:p>
            <a:pPr marL="0" indent="0" algn="l">
              <a:lnSpc>
                <a:spcPct val="110000"/>
              </a:lnSpc>
              <a:buNone/>
            </a:pPr>
            <a:r>
              <a:rPr lang="en-US" sz="1300" dirty="0">
                <a:solidFill>
                  <a:srgbClr val="B8C5D6"/>
                </a:solidFill>
                <a:latin typeface="Calibri" pitchFamily="34" charset="0"/>
                <a:ea typeface="Calibri" pitchFamily="34" charset="-122"/>
                <a:cs typeface="Calibri" pitchFamily="34" charset="-120"/>
              </a:rPr>
              <a:t>The Personal File Organizer project aims to streamline document management for users by providing an intuitive interface for organizing, storing, and retrieving files. With the increasing volume of digital documents, effective organization is crucial for productivity. This project addresses common challenges faced by individuals and teams in managing their files efficiently, ensuring easy access and enhanced collaboration. Our solution leverages modern technology to create a user-friendly experience that meets diverse organizational needs.
</a:t>
            </a:r>
            <a:endParaRPr lang="en-US" sz="1300" dirty="0"/>
          </a:p>
        </p:txBody>
      </p:sp>
      <p:sp>
        <p:nvSpPr>
          <p:cNvPr id="11" name="Shape 2"/>
          <p:cNvSpPr/>
          <p:nvPr/>
        </p:nvSpPr>
        <p:spPr>
          <a:xfrm>
            <a:off x="1015975" y="1498563"/>
            <a:ext cx="711182" cy="63498"/>
          </a:xfrm>
          <a:prstGeom prst="rect">
            <a:avLst/>
          </a:prstGeom>
          <a:solidFill>
            <a:srgbClr val="00FFFF"/>
          </a:solidFill>
          <a:ln/>
        </p:spPr>
        <p:txBody>
          <a:bodyPr/>
          <a:lstStyle/>
          <a:p>
            <a:endParaRPr lang="en-IN"/>
          </a:p>
        </p:txBody>
      </p:sp>
      <p:sp>
        <p:nvSpPr>
          <p:cNvPr id="12" name="Text 3"/>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4"/>
          <a:stretch>
            <a:fillRect/>
          </a:stretch>
        </p:blipFill>
        <p:spPr>
          <a:xfrm>
            <a:off x="761981" y="1650959"/>
            <a:ext cx="380990" cy="380990"/>
          </a:xfrm>
          <a:prstGeom prst="rect">
            <a:avLst/>
          </a:prstGeom>
        </p:spPr>
      </p:pic>
      <p:sp>
        <p:nvSpPr>
          <p:cNvPr id="4" name="Text 0"/>
          <p:cNvSpPr/>
          <p:nvPr/>
        </p:nvSpPr>
        <p:spPr>
          <a:xfrm>
            <a:off x="601118" y="2250887"/>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Streamlined File Management
</a:t>
            </a:r>
            <a:endParaRPr lang="en-US" sz="1400" dirty="0"/>
          </a:p>
        </p:txBody>
      </p:sp>
      <p:sp>
        <p:nvSpPr>
          <p:cNvPr id="5" name="Text 1"/>
          <p:cNvSpPr/>
          <p:nvPr/>
        </p:nvSpPr>
        <p:spPr>
          <a:xfrm>
            <a:off x="601118" y="2555679"/>
            <a:ext cx="3553795" cy="773093"/>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A personal file organizer is designed to streamline file management, enhancing user efficiency and organization.
</a:t>
            </a:r>
            <a:endParaRPr lang="en-US" sz="1300" dirty="0"/>
          </a:p>
        </p:txBody>
      </p:sp>
      <p:sp>
        <p:nvSpPr>
          <p:cNvPr id="6" name="Text 2"/>
          <p:cNvSpPr/>
          <p:nvPr/>
        </p:nvSpPr>
        <p:spPr>
          <a:xfrm>
            <a:off x="4772964" y="2250887"/>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Efficient Categorization
</a:t>
            </a:r>
            <a:endParaRPr lang="en-US" sz="1400" dirty="0"/>
          </a:p>
        </p:txBody>
      </p:sp>
      <p:sp>
        <p:nvSpPr>
          <p:cNvPr id="7" name="Text 3"/>
          <p:cNvSpPr/>
          <p:nvPr/>
        </p:nvSpPr>
        <p:spPr>
          <a:xfrm>
            <a:off x="4772964" y="2555679"/>
            <a:ext cx="3553795" cy="1030792"/>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It allows users to efficiently categorize and retrieve files, reducing the time spent searching for important documents.
</a:t>
            </a:r>
            <a:endParaRPr lang="en-US" sz="1300" dirty="0"/>
          </a:p>
        </p:txBody>
      </p:sp>
      <p:sp>
        <p:nvSpPr>
          <p:cNvPr id="8" name="Text 4"/>
          <p:cNvSpPr/>
          <p:nvPr/>
        </p:nvSpPr>
        <p:spPr>
          <a:xfrm>
            <a:off x="601118" y="4407716"/>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Increased Productivity
</a:t>
            </a:r>
            <a:endParaRPr lang="en-US" sz="1400" dirty="0"/>
          </a:p>
        </p:txBody>
      </p:sp>
      <p:sp>
        <p:nvSpPr>
          <p:cNvPr id="9" name="Text 5"/>
          <p:cNvSpPr/>
          <p:nvPr/>
        </p:nvSpPr>
        <p:spPr>
          <a:xfrm>
            <a:off x="601118" y="4712509"/>
            <a:ext cx="3553795" cy="773093"/>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The system enhances productivity by cutting down the time wasted on locating files, leading to better workflow.
</a:t>
            </a:r>
            <a:endParaRPr lang="en-US" sz="1300" dirty="0"/>
          </a:p>
        </p:txBody>
      </p:sp>
      <p:sp>
        <p:nvSpPr>
          <p:cNvPr id="10" name="Text 6"/>
          <p:cNvSpPr/>
          <p:nvPr/>
        </p:nvSpPr>
        <p:spPr>
          <a:xfrm>
            <a:off x="4772964" y="4407716"/>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User-Friendly Interface
</a:t>
            </a:r>
            <a:endParaRPr lang="en-US" sz="1400" dirty="0"/>
          </a:p>
        </p:txBody>
      </p:sp>
      <p:sp>
        <p:nvSpPr>
          <p:cNvPr id="11" name="Text 7"/>
          <p:cNvSpPr/>
          <p:nvPr/>
        </p:nvSpPr>
        <p:spPr>
          <a:xfrm>
            <a:off x="4772964" y="4712509"/>
            <a:ext cx="3553795" cy="773093"/>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A personal file organizer is designed to streamline file management, enhancing user efficiency and organization.
</a:t>
            </a:r>
            <a:endParaRPr lang="en-US" sz="1300" dirty="0"/>
          </a:p>
        </p:txBody>
      </p:sp>
      <p:sp>
        <p:nvSpPr>
          <p:cNvPr id="12" name="Text 8"/>
          <p:cNvSpPr/>
          <p:nvPr/>
        </p:nvSpPr>
        <p:spPr>
          <a:xfrm>
            <a:off x="380990" y="1202767"/>
            <a:ext cx="8140497" cy="396204"/>
          </a:xfrm>
          <a:prstGeom prst="rect">
            <a:avLst/>
          </a:prstGeom>
          <a:noFill/>
          <a:ln/>
        </p:spPr>
        <p:txBody>
          <a:bodyPr wrap="square" lIns="1016" tIns="1016" rIns="1016" bIns="1016" rtlCol="0" anchor="t"/>
          <a:lstStyle/>
          <a:p>
            <a:pPr marL="0" indent="0">
              <a:lnSpc>
                <a:spcPct val="120000"/>
              </a:lnSpc>
              <a:buNone/>
            </a:pPr>
            <a:r>
              <a:rPr lang="en-US" sz="2300" b="1" dirty="0">
                <a:solidFill>
                  <a:srgbClr val="00FFFF"/>
                </a:solidFill>
                <a:latin typeface="Trebuchet MS" pitchFamily="34" charset="0"/>
                <a:ea typeface="Trebuchet MS" pitchFamily="34" charset="-122"/>
                <a:cs typeface="Trebuchet MS" pitchFamily="34" charset="-120"/>
              </a:rPr>
              <a:t>Streamlined File Management
</a:t>
            </a:r>
            <a:endParaRPr lang="en-US" sz="2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652" y="1937630"/>
            <a:ext cx="228594" cy="228594"/>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64497" y="1937630"/>
            <a:ext cx="228594" cy="228594"/>
          </a:xfrm>
          <a:prstGeom prst="rect">
            <a:avLst/>
          </a:prstGeom>
        </p:spPr>
      </p:pic>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2652" y="4094458"/>
            <a:ext cx="228594" cy="228594"/>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64497" y="4094458"/>
            <a:ext cx="228594" cy="228594"/>
          </a:xfrm>
          <a:prstGeom prst="rect">
            <a:avLst/>
          </a:prstGeom>
        </p:spPr>
      </p:pic>
      <p:pic>
        <p:nvPicPr>
          <p:cNvPr id="17" name="Image 6" descr="preencoded.png"/>
          <p:cNvPicPr>
            <a:picLocks noChangeAspect="1"/>
          </p:cNvPicPr>
          <p:nvPr/>
        </p:nvPicPr>
        <p:blipFill>
          <a:blip r:embed="rId9"/>
          <a:srcRect/>
          <a:stretch/>
        </p:blipFill>
        <p:spPr>
          <a:xfrm>
            <a:off x="8775481" y="0"/>
            <a:ext cx="3370494" cy="6812280"/>
          </a:xfrm>
          <a:prstGeom prst="rect">
            <a:avLst/>
          </a:prstGeom>
        </p:spPr>
      </p:pic>
      <p:sp>
        <p:nvSpPr>
          <p:cNvPr id="18" name="Text 9"/>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97765" y="2539937"/>
            <a:ext cx="2748210" cy="3809905"/>
          </a:xfrm>
          <a:prstGeom prst="rect">
            <a:avLst/>
          </a:prstGeom>
        </p:spPr>
      </p:pic>
      <p:pic>
        <p:nvPicPr>
          <p:cNvPr id="3" name="Image 1" descr="preencoded.png"/>
          <p:cNvPicPr>
            <a:picLocks noChangeAspect="1"/>
          </p:cNvPicPr>
          <p:nvPr/>
        </p:nvPicPr>
        <p:blipFill>
          <a:blip r:embed="rId4"/>
          <a:stretch>
            <a:fillRect/>
          </a:stretch>
        </p:blipFill>
        <p:spPr>
          <a:xfrm>
            <a:off x="-1015975" y="2539937"/>
            <a:ext cx="3809905" cy="3809905"/>
          </a:xfrm>
          <a:prstGeom prst="rect">
            <a:avLst/>
          </a:prstGeom>
        </p:spPr>
      </p:pic>
      <p:sp>
        <p:nvSpPr>
          <p:cNvPr id="4" name="Shape 0"/>
          <p:cNvSpPr/>
          <p:nvPr/>
        </p:nvSpPr>
        <p:spPr>
          <a:xfrm>
            <a:off x="770448" y="2205511"/>
            <a:ext cx="5079873" cy="3081789"/>
          </a:xfrm>
          <a:prstGeom prst="roundRect">
            <a:avLst>
              <a:gd name="adj" fmla="val 5769"/>
            </a:avLst>
          </a:prstGeom>
          <a:solidFill>
            <a:srgbClr val="00FFFF">
              <a:alpha val="7000"/>
            </a:srgbClr>
          </a:solidFill>
          <a:ln/>
        </p:spPr>
        <p:txBody>
          <a:bodyPr/>
          <a:lstStyle/>
          <a:p>
            <a:endParaRPr lang="en-IN"/>
          </a:p>
        </p:txBody>
      </p:sp>
      <p:sp>
        <p:nvSpPr>
          <p:cNvPr id="5" name="Shape 1"/>
          <p:cNvSpPr/>
          <p:nvPr/>
        </p:nvSpPr>
        <p:spPr>
          <a:xfrm>
            <a:off x="6349841" y="2205511"/>
            <a:ext cx="5079873" cy="3081789"/>
          </a:xfrm>
          <a:prstGeom prst="roundRect">
            <a:avLst>
              <a:gd name="adj" fmla="val 5769"/>
            </a:avLst>
          </a:prstGeom>
          <a:solidFill>
            <a:srgbClr val="8B5CF6">
              <a:alpha val="7000"/>
            </a:srgbClr>
          </a:solidFill>
          <a:ln/>
        </p:spPr>
        <p:txBody>
          <a:bodyPr/>
          <a:lstStyle/>
          <a:p>
            <a:endParaRPr lang="en-IN"/>
          </a:p>
        </p:txBody>
      </p:sp>
      <p:pic>
        <p:nvPicPr>
          <p:cNvPr id="6" name="Image 2" descr="preencoded.png"/>
          <p:cNvPicPr>
            <a:picLocks noChangeAspect="1"/>
          </p:cNvPicPr>
          <p:nvPr/>
        </p:nvPicPr>
        <p:blipFill>
          <a:blip r:embed="rId5"/>
          <a:stretch>
            <a:fillRect/>
          </a:stretch>
        </p:blipFill>
        <p:spPr>
          <a:xfrm>
            <a:off x="6070448" y="1650959"/>
            <a:ext cx="50799" cy="4571886"/>
          </a:xfrm>
          <a:prstGeom prst="rect">
            <a:avLst/>
          </a:prstGeom>
        </p:spPr>
      </p:pic>
      <p:sp>
        <p:nvSpPr>
          <p:cNvPr id="7" name="Text 2"/>
          <p:cNvSpPr/>
          <p:nvPr/>
        </p:nvSpPr>
        <p:spPr>
          <a:xfrm>
            <a:off x="761981" y="507987"/>
            <a:ext cx="10667733" cy="888978"/>
          </a:xfrm>
          <a:prstGeom prst="rect">
            <a:avLst/>
          </a:prstGeom>
          <a:noFill/>
          <a:ln/>
        </p:spPr>
        <p:txBody>
          <a:bodyPr wrap="square" lIns="1016" tIns="1016" rIns="1016" bIns="1016" rtlCol="0" anchor="t"/>
          <a:lstStyle/>
          <a:p>
            <a:pPr marL="0" indent="0" algn="l">
              <a:lnSpc>
                <a:spcPct val="110000"/>
              </a:lnSpc>
              <a:buNone/>
            </a:pPr>
            <a:r>
              <a:rPr lang="en-US" sz="2900" b="1" dirty="0">
                <a:solidFill>
                  <a:srgbClr val="00FFFF"/>
                </a:solidFill>
                <a:latin typeface="Trebuchet MS" pitchFamily="34" charset="0"/>
                <a:ea typeface="Trebuchet MS" pitchFamily="34" charset="-122"/>
                <a:cs typeface="Trebuchet MS" pitchFamily="34" charset="-120"/>
              </a:rPr>
              <a:t>Personal File Organizer: Problem Statement &amp; Team Overview
</a:t>
            </a:r>
            <a:endParaRPr lang="en-US" sz="2900" dirty="0"/>
          </a:p>
        </p:txBody>
      </p:sp>
      <p:sp>
        <p:nvSpPr>
          <p:cNvPr id="8" name="Text 3"/>
          <p:cNvSpPr/>
          <p:nvPr/>
        </p:nvSpPr>
        <p:spPr>
          <a:xfrm>
            <a:off x="1066773" y="2518771"/>
            <a:ext cx="4470288" cy="317492"/>
          </a:xfrm>
          <a:prstGeom prst="rect">
            <a:avLst/>
          </a:prstGeom>
          <a:noFill/>
          <a:ln/>
        </p:spPr>
        <p:txBody>
          <a:bodyPr wrap="square" lIns="1016" tIns="1016" rIns="1016" bIns="1016" rtlCol="0" anchor="t"/>
          <a:lstStyle/>
          <a:p>
            <a:pPr marL="0" indent="0" algn="l">
              <a:lnSpc>
                <a:spcPct val="125000"/>
              </a:lnSpc>
              <a:buNone/>
            </a:pPr>
            <a:r>
              <a:rPr lang="en-US" sz="1800" b="1" dirty="0">
                <a:solidFill>
                  <a:srgbClr val="00FFFF"/>
                </a:solidFill>
                <a:latin typeface="Trebuchet MS" pitchFamily="34" charset="0"/>
                <a:ea typeface="Trebuchet MS" pitchFamily="34" charset="-122"/>
                <a:cs typeface="Trebuchet MS" pitchFamily="34" charset="-120"/>
              </a:rPr>
              <a:t>Problem Statement
</a:t>
            </a:r>
            <a:endParaRPr lang="en-US" sz="1800" dirty="0"/>
          </a:p>
        </p:txBody>
      </p:sp>
      <p:sp>
        <p:nvSpPr>
          <p:cNvPr id="9" name="Text 4"/>
          <p:cNvSpPr/>
          <p:nvPr/>
        </p:nvSpPr>
        <p:spPr>
          <a:xfrm>
            <a:off x="1308067" y="2988658"/>
            <a:ext cx="4228994"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Individuals face difficulties in locating files due to poor organization.
</a:t>
            </a:r>
            <a:endParaRPr lang="en-US" sz="1400" dirty="0"/>
          </a:p>
        </p:txBody>
      </p:sp>
      <p:sp>
        <p:nvSpPr>
          <p:cNvPr id="10" name="Text 5"/>
          <p:cNvSpPr/>
          <p:nvPr/>
        </p:nvSpPr>
        <p:spPr>
          <a:xfrm>
            <a:off x="1308067" y="3712540"/>
            <a:ext cx="4228994"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Current systems lack intuitive categorization methods.
</a:t>
            </a:r>
            <a:endParaRPr lang="en-US" sz="1400" dirty="0"/>
          </a:p>
        </p:txBody>
      </p:sp>
      <p:sp>
        <p:nvSpPr>
          <p:cNvPr id="11" name="Text 6"/>
          <p:cNvSpPr/>
          <p:nvPr/>
        </p:nvSpPr>
        <p:spPr>
          <a:xfrm>
            <a:off x="1308067" y="4436422"/>
            <a:ext cx="4228994" cy="571486"/>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Inefficiencies lead to wasted time and increased frustration.
</a:t>
            </a:r>
            <a:endParaRPr lang="en-US" sz="1400" dirty="0"/>
          </a:p>
        </p:txBody>
      </p:sp>
      <p:sp>
        <p:nvSpPr>
          <p:cNvPr id="12" name="Text 7"/>
          <p:cNvSpPr/>
          <p:nvPr/>
        </p:nvSpPr>
        <p:spPr>
          <a:xfrm>
            <a:off x="6654634" y="2518771"/>
            <a:ext cx="4470288" cy="317492"/>
          </a:xfrm>
          <a:prstGeom prst="rect">
            <a:avLst/>
          </a:prstGeom>
          <a:noFill/>
          <a:ln/>
        </p:spPr>
        <p:txBody>
          <a:bodyPr wrap="square" lIns="1016" tIns="1016" rIns="1016" bIns="1016" rtlCol="0" anchor="t"/>
          <a:lstStyle/>
          <a:p>
            <a:pPr marL="0" indent="0" algn="l">
              <a:lnSpc>
                <a:spcPct val="125000"/>
              </a:lnSpc>
              <a:buNone/>
            </a:pPr>
            <a:r>
              <a:rPr lang="en-US" sz="1800" b="1" dirty="0">
                <a:solidFill>
                  <a:srgbClr val="8B5CF6"/>
                </a:solidFill>
                <a:latin typeface="Trebuchet MS" pitchFamily="34" charset="0"/>
                <a:ea typeface="Trebuchet MS" pitchFamily="34" charset="-122"/>
                <a:cs typeface="Trebuchet MS" pitchFamily="34" charset="-120"/>
              </a:rPr>
              <a:t>Team Overview
</a:t>
            </a:r>
            <a:endParaRPr lang="en-US" sz="1800" dirty="0"/>
          </a:p>
        </p:txBody>
      </p:sp>
      <p:sp>
        <p:nvSpPr>
          <p:cNvPr id="13" name="Text 8"/>
          <p:cNvSpPr/>
          <p:nvPr/>
        </p:nvSpPr>
        <p:spPr>
          <a:xfrm>
            <a:off x="6895928" y="2988658"/>
            <a:ext cx="2258029" cy="285743"/>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Team Name: Sheel Mates
</a:t>
            </a:r>
            <a:endParaRPr lang="en-US" sz="1400" dirty="0"/>
          </a:p>
        </p:txBody>
      </p:sp>
      <p:sp>
        <p:nvSpPr>
          <p:cNvPr id="14" name="Text 9"/>
          <p:cNvSpPr/>
          <p:nvPr/>
        </p:nvSpPr>
        <p:spPr>
          <a:xfrm>
            <a:off x="6895928" y="3426798"/>
            <a:ext cx="2854651" cy="285743"/>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Team Members: Ayesha Javeed
</a:t>
            </a:r>
            <a:endParaRPr lang="en-US" sz="1400" dirty="0"/>
          </a:p>
        </p:txBody>
      </p:sp>
      <p:sp>
        <p:nvSpPr>
          <p:cNvPr id="15" name="Text 10"/>
          <p:cNvSpPr/>
          <p:nvPr/>
        </p:nvSpPr>
        <p:spPr>
          <a:xfrm>
            <a:off x="6895928" y="3864937"/>
            <a:ext cx="2956777" cy="285743"/>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Team Members: G. Mohya Reddy
</a:t>
            </a:r>
            <a:endParaRPr lang="en-US" sz="1400" dirty="0"/>
          </a:p>
        </p:txBody>
      </p:sp>
      <p:sp>
        <p:nvSpPr>
          <p:cNvPr id="16" name="Text 11"/>
          <p:cNvSpPr/>
          <p:nvPr/>
        </p:nvSpPr>
        <p:spPr>
          <a:xfrm>
            <a:off x="6895928" y="4303076"/>
            <a:ext cx="2194664" cy="285743"/>
          </a:xfrm>
          <a:prstGeom prst="rect">
            <a:avLst/>
          </a:prstGeom>
          <a:noFill/>
          <a:ln/>
        </p:spPr>
        <p:txBody>
          <a:bodyPr wrap="square" lIns="1016" tIns="1016" rIns="1016" bIns="1016" rtlCol="0" anchor="t"/>
          <a:lstStyle/>
          <a:p>
            <a:pPr marL="0" indent="0" algn="l">
              <a:lnSpc>
                <a:spcPct val="150000"/>
              </a:lnSpc>
              <a:buNone/>
            </a:pPr>
            <a:r>
              <a:rPr lang="en-US" sz="1400" dirty="0">
                <a:solidFill>
                  <a:srgbClr val="00FFFF"/>
                </a:solidFill>
                <a:latin typeface="Trebuchet MS" pitchFamily="34" charset="0"/>
                <a:ea typeface="Trebuchet MS" pitchFamily="34" charset="-122"/>
                <a:cs typeface="Trebuchet MS" pitchFamily="34" charset="-120"/>
              </a:rPr>
              <a:t>Team Members: Akshara
</a:t>
            </a:r>
            <a:endParaRPr lang="en-US" sz="1400" dirty="0"/>
          </a:p>
        </p:txBody>
      </p:sp>
      <p:sp>
        <p:nvSpPr>
          <p:cNvPr id="17" name="Shape 12"/>
          <p:cNvSpPr/>
          <p:nvPr/>
        </p:nvSpPr>
        <p:spPr>
          <a:xfrm>
            <a:off x="1066773" y="3090256"/>
            <a:ext cx="88898" cy="88898"/>
          </a:xfrm>
          <a:prstGeom prst="ellipse">
            <a:avLst/>
          </a:prstGeom>
          <a:solidFill>
            <a:srgbClr val="00FFFF"/>
          </a:solidFill>
          <a:ln/>
        </p:spPr>
        <p:txBody>
          <a:bodyPr/>
          <a:lstStyle/>
          <a:p>
            <a:endParaRPr lang="en-IN"/>
          </a:p>
        </p:txBody>
      </p:sp>
      <p:sp>
        <p:nvSpPr>
          <p:cNvPr id="18" name="Shape 13"/>
          <p:cNvSpPr/>
          <p:nvPr/>
        </p:nvSpPr>
        <p:spPr>
          <a:xfrm>
            <a:off x="1066773" y="3814138"/>
            <a:ext cx="88898" cy="88898"/>
          </a:xfrm>
          <a:prstGeom prst="ellipse">
            <a:avLst/>
          </a:prstGeom>
          <a:solidFill>
            <a:srgbClr val="00FFFF"/>
          </a:solidFill>
          <a:ln/>
        </p:spPr>
        <p:txBody>
          <a:bodyPr/>
          <a:lstStyle/>
          <a:p>
            <a:endParaRPr lang="en-IN"/>
          </a:p>
        </p:txBody>
      </p:sp>
      <p:sp>
        <p:nvSpPr>
          <p:cNvPr id="19" name="Shape 14"/>
          <p:cNvSpPr/>
          <p:nvPr/>
        </p:nvSpPr>
        <p:spPr>
          <a:xfrm>
            <a:off x="1066773" y="4538020"/>
            <a:ext cx="88898" cy="88898"/>
          </a:xfrm>
          <a:prstGeom prst="ellipse">
            <a:avLst/>
          </a:prstGeom>
          <a:solidFill>
            <a:srgbClr val="00FFFF"/>
          </a:solidFill>
          <a:ln/>
        </p:spPr>
        <p:txBody>
          <a:bodyPr/>
          <a:lstStyle/>
          <a:p>
            <a:endParaRPr lang="en-IN"/>
          </a:p>
        </p:txBody>
      </p:sp>
      <p:sp>
        <p:nvSpPr>
          <p:cNvPr id="20" name="Shape 15"/>
          <p:cNvSpPr/>
          <p:nvPr/>
        </p:nvSpPr>
        <p:spPr>
          <a:xfrm>
            <a:off x="6654634" y="3090256"/>
            <a:ext cx="88898" cy="88898"/>
          </a:xfrm>
          <a:prstGeom prst="ellipse">
            <a:avLst/>
          </a:prstGeom>
          <a:solidFill>
            <a:srgbClr val="8B5CF6"/>
          </a:solidFill>
          <a:ln/>
        </p:spPr>
        <p:txBody>
          <a:bodyPr/>
          <a:lstStyle/>
          <a:p>
            <a:endParaRPr lang="en-IN"/>
          </a:p>
        </p:txBody>
      </p:sp>
      <p:sp>
        <p:nvSpPr>
          <p:cNvPr id="21" name="Shape 16"/>
          <p:cNvSpPr/>
          <p:nvPr/>
        </p:nvSpPr>
        <p:spPr>
          <a:xfrm>
            <a:off x="6654634" y="3528395"/>
            <a:ext cx="88898" cy="88898"/>
          </a:xfrm>
          <a:prstGeom prst="ellipse">
            <a:avLst/>
          </a:prstGeom>
          <a:solidFill>
            <a:srgbClr val="8B5CF6"/>
          </a:solidFill>
          <a:ln/>
        </p:spPr>
        <p:txBody>
          <a:bodyPr/>
          <a:lstStyle/>
          <a:p>
            <a:endParaRPr lang="en-IN"/>
          </a:p>
        </p:txBody>
      </p:sp>
      <p:sp>
        <p:nvSpPr>
          <p:cNvPr id="22" name="Shape 17"/>
          <p:cNvSpPr/>
          <p:nvPr/>
        </p:nvSpPr>
        <p:spPr>
          <a:xfrm>
            <a:off x="6654634" y="3966534"/>
            <a:ext cx="88898" cy="88898"/>
          </a:xfrm>
          <a:prstGeom prst="ellipse">
            <a:avLst/>
          </a:prstGeom>
          <a:solidFill>
            <a:srgbClr val="8B5CF6"/>
          </a:solidFill>
          <a:ln/>
        </p:spPr>
        <p:txBody>
          <a:bodyPr/>
          <a:lstStyle/>
          <a:p>
            <a:endParaRPr lang="en-IN"/>
          </a:p>
        </p:txBody>
      </p:sp>
      <p:sp>
        <p:nvSpPr>
          <p:cNvPr id="23" name="Shape 18"/>
          <p:cNvSpPr/>
          <p:nvPr/>
        </p:nvSpPr>
        <p:spPr>
          <a:xfrm>
            <a:off x="6654634" y="4404674"/>
            <a:ext cx="88898" cy="88898"/>
          </a:xfrm>
          <a:prstGeom prst="ellipse">
            <a:avLst/>
          </a:prstGeom>
          <a:solidFill>
            <a:srgbClr val="8B5CF6"/>
          </a:solidFill>
          <a:ln/>
        </p:spPr>
        <p:txBody>
          <a:bodyPr/>
          <a:lstStyle/>
          <a:p>
            <a:endParaRPr lang="en-IN"/>
          </a:p>
        </p:txBody>
      </p:sp>
      <p:sp>
        <p:nvSpPr>
          <p:cNvPr id="24" name="Text 19"/>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sp>
        <p:nvSpPr>
          <p:cNvPr id="3" name="Shape 0"/>
          <p:cNvSpPr/>
          <p:nvPr/>
        </p:nvSpPr>
        <p:spPr>
          <a:xfrm>
            <a:off x="4394091" y="1828489"/>
            <a:ext cx="7035625" cy="1108047"/>
          </a:xfrm>
          <a:prstGeom prst="roundRect">
            <a:avLst>
              <a:gd name="adj" fmla="val 20630"/>
            </a:avLst>
          </a:prstGeom>
          <a:solidFill>
            <a:srgbClr val="000000">
              <a:alpha val="0"/>
            </a:srgbClr>
          </a:solidFill>
          <a:ln w="8467">
            <a:solidFill>
              <a:srgbClr val="00FFFF"/>
            </a:solidFill>
            <a:prstDash val="solid"/>
          </a:ln>
        </p:spPr>
        <p:txBody>
          <a:bodyPr/>
          <a:lstStyle/>
          <a:p>
            <a:endParaRPr lang="en-IN"/>
          </a:p>
        </p:txBody>
      </p:sp>
      <p:sp>
        <p:nvSpPr>
          <p:cNvPr id="4" name="Shape 1"/>
          <p:cNvSpPr/>
          <p:nvPr/>
        </p:nvSpPr>
        <p:spPr>
          <a:xfrm>
            <a:off x="4724282" y="3063533"/>
            <a:ext cx="6705432" cy="1108047"/>
          </a:xfrm>
          <a:prstGeom prst="roundRect">
            <a:avLst>
              <a:gd name="adj" fmla="val 20630"/>
            </a:avLst>
          </a:prstGeom>
          <a:solidFill>
            <a:srgbClr val="000000">
              <a:alpha val="0"/>
            </a:srgbClr>
          </a:solidFill>
          <a:ln w="8467">
            <a:solidFill>
              <a:srgbClr val="00FFFF">
                <a:alpha val="18000"/>
              </a:srgbClr>
            </a:solidFill>
            <a:prstDash val="solid"/>
          </a:ln>
        </p:spPr>
        <p:txBody>
          <a:bodyPr/>
          <a:lstStyle/>
          <a:p>
            <a:endParaRPr lang="en-IN"/>
          </a:p>
        </p:txBody>
      </p:sp>
      <p:sp>
        <p:nvSpPr>
          <p:cNvPr id="5" name="Shape 2"/>
          <p:cNvSpPr/>
          <p:nvPr/>
        </p:nvSpPr>
        <p:spPr>
          <a:xfrm>
            <a:off x="5054474" y="4298578"/>
            <a:ext cx="6375241" cy="1365745"/>
          </a:xfrm>
          <a:prstGeom prst="roundRect">
            <a:avLst>
              <a:gd name="adj" fmla="val 16738"/>
            </a:avLst>
          </a:prstGeom>
          <a:solidFill>
            <a:srgbClr val="000000">
              <a:alpha val="0"/>
            </a:srgbClr>
          </a:solidFill>
          <a:ln w="8467">
            <a:solidFill>
              <a:srgbClr val="00FFFF">
                <a:alpha val="18000"/>
              </a:srgbClr>
            </a:solidFill>
            <a:prstDash val="solid"/>
          </a:ln>
        </p:spPr>
        <p:txBody>
          <a:bodyPr/>
          <a:lstStyle/>
          <a:p>
            <a:endParaRPr lang="en-IN"/>
          </a:p>
        </p:txBody>
      </p:sp>
      <p:pic>
        <p:nvPicPr>
          <p:cNvPr id="6" name="Image 1" descr="preencoded.png"/>
          <p:cNvPicPr>
            <a:picLocks noChangeAspect="1"/>
          </p:cNvPicPr>
          <p:nvPr/>
        </p:nvPicPr>
        <p:blipFill>
          <a:blip r:embed="rId4"/>
          <a:stretch>
            <a:fillRect/>
          </a:stretch>
        </p:blipFill>
        <p:spPr>
          <a:xfrm>
            <a:off x="761981" y="1650959"/>
            <a:ext cx="380990" cy="380990"/>
          </a:xfrm>
          <a:prstGeom prst="rect">
            <a:avLst/>
          </a:prstGeom>
        </p:spPr>
      </p:pic>
      <p:sp>
        <p:nvSpPr>
          <p:cNvPr id="7" name="Text 3"/>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10000"/>
              </a:lnSpc>
              <a:buNone/>
            </a:pPr>
            <a:r>
              <a:rPr lang="en-US" sz="2900" b="1" dirty="0">
                <a:solidFill>
                  <a:srgbClr val="00FFFF"/>
                </a:solidFill>
                <a:latin typeface="Trebuchet MS" pitchFamily="34" charset="0"/>
                <a:ea typeface="Trebuchet MS" pitchFamily="34" charset="-122"/>
                <a:cs typeface="Trebuchet MS" pitchFamily="34" charset="-120"/>
              </a:rPr>
              <a:t>Objectives
</a:t>
            </a:r>
            <a:endParaRPr lang="en-US" sz="2900" dirty="0"/>
          </a:p>
        </p:txBody>
      </p:sp>
      <p:sp>
        <p:nvSpPr>
          <p:cNvPr id="8" name="Text 4"/>
          <p:cNvSpPr/>
          <p:nvPr/>
        </p:nvSpPr>
        <p:spPr>
          <a:xfrm>
            <a:off x="5249202" y="1972419"/>
            <a:ext cx="593498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User-Friendly Interface
</a:t>
            </a:r>
            <a:endParaRPr lang="en-US" sz="1400" dirty="0"/>
          </a:p>
        </p:txBody>
      </p:sp>
      <p:sp>
        <p:nvSpPr>
          <p:cNvPr id="9" name="Text 5"/>
          <p:cNvSpPr/>
          <p:nvPr/>
        </p:nvSpPr>
        <p:spPr>
          <a:xfrm>
            <a:off x="5249202" y="2277212"/>
            <a:ext cx="5934985" cy="515395"/>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Create an intuitive interface that simplifies file management, enhancing user experience and reducing training time by 40%.
</a:t>
            </a:r>
            <a:endParaRPr lang="en-US" sz="1300" dirty="0"/>
          </a:p>
        </p:txBody>
      </p:sp>
      <p:sp>
        <p:nvSpPr>
          <p:cNvPr id="10" name="Text 6"/>
          <p:cNvSpPr/>
          <p:nvPr/>
        </p:nvSpPr>
        <p:spPr>
          <a:xfrm>
            <a:off x="5579394" y="3207464"/>
            <a:ext cx="5604794"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Effective Categorization
</a:t>
            </a:r>
            <a:endParaRPr lang="en-US" sz="1400" dirty="0"/>
          </a:p>
        </p:txBody>
      </p:sp>
      <p:sp>
        <p:nvSpPr>
          <p:cNvPr id="11" name="Text 7"/>
          <p:cNvSpPr/>
          <p:nvPr/>
        </p:nvSpPr>
        <p:spPr>
          <a:xfrm>
            <a:off x="5579394" y="3512256"/>
            <a:ext cx="5604794" cy="515395"/>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Implement advanced categorization and search features to reduce file retrieval time by 50%, boosting overall productivity.
</a:t>
            </a:r>
            <a:endParaRPr lang="en-US" sz="1300" dirty="0"/>
          </a:p>
        </p:txBody>
      </p:sp>
      <p:sp>
        <p:nvSpPr>
          <p:cNvPr id="12" name="Text 8"/>
          <p:cNvSpPr/>
          <p:nvPr/>
        </p:nvSpPr>
        <p:spPr>
          <a:xfrm>
            <a:off x="5909585" y="4442507"/>
            <a:ext cx="5274602"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Enhance Productivity
</a:t>
            </a:r>
            <a:endParaRPr lang="en-US" sz="1400" dirty="0"/>
          </a:p>
        </p:txBody>
      </p:sp>
      <p:sp>
        <p:nvSpPr>
          <p:cNvPr id="13" name="Text 9"/>
          <p:cNvSpPr/>
          <p:nvPr/>
        </p:nvSpPr>
        <p:spPr>
          <a:xfrm>
            <a:off x="5909585" y="4747300"/>
            <a:ext cx="5274602" cy="773093"/>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Focus on minimizing file retrieval time, aiming for a 30% increase in overall productivity for users managing large file volumes.
</a:t>
            </a:r>
            <a:endParaRPr lang="en-US" sz="1300" dirty="0"/>
          </a:p>
        </p:txBody>
      </p:sp>
      <p:sp>
        <p:nvSpPr>
          <p:cNvPr id="14" name="Shape 10"/>
          <p:cNvSpPr/>
          <p:nvPr/>
        </p:nvSpPr>
        <p:spPr>
          <a:xfrm>
            <a:off x="4580352" y="2153919"/>
            <a:ext cx="507987" cy="330192"/>
          </a:xfrm>
          <a:prstGeom prst="roundRect">
            <a:avLst>
              <a:gd name="adj" fmla="val 25000"/>
            </a:avLst>
          </a:prstGeom>
          <a:solidFill>
            <a:srgbClr val="00FFFF">
              <a:alpha val="10000"/>
            </a:srgbClr>
          </a:solidFill>
          <a:ln/>
        </p:spPr>
        <p:txBody>
          <a:bodyPr/>
          <a:lstStyle/>
          <a:p>
            <a:endParaRPr lang="en-IN"/>
          </a:p>
        </p:txBody>
      </p:sp>
      <p:sp>
        <p:nvSpPr>
          <p:cNvPr id="15" name="Text 11"/>
          <p:cNvSpPr/>
          <p:nvPr/>
        </p:nvSpPr>
        <p:spPr>
          <a:xfrm>
            <a:off x="4580352" y="2153919"/>
            <a:ext cx="507987" cy="330192"/>
          </a:xfrm>
          <a:prstGeom prst="rect">
            <a:avLst/>
          </a:prstGeom>
          <a:noFill/>
          <a:ln/>
        </p:spPr>
        <p:txBody>
          <a:bodyPr wrap="square" lIns="0" tIns="0" rIns="0" bIns="0" rtlCol="0" anchor="t"/>
          <a:lstStyle/>
          <a:p>
            <a:pPr marL="0" indent="0" algn="ctr">
              <a:lnSpc>
                <a:spcPct val="185714"/>
              </a:lnSpc>
              <a:buNone/>
            </a:pPr>
            <a:r>
              <a:rPr lang="en-US" sz="1300" b="1" dirty="0">
                <a:solidFill>
                  <a:srgbClr val="00FFFF"/>
                </a:solidFill>
                <a:latin typeface="Calibri" pitchFamily="34" charset="0"/>
                <a:ea typeface="Calibri" pitchFamily="34" charset="-122"/>
                <a:cs typeface="Calibri" pitchFamily="34" charset="-120"/>
              </a:rPr>
              <a:t>01
</a:t>
            </a:r>
            <a:endParaRPr lang="en-US" sz="1300" dirty="0"/>
          </a:p>
        </p:txBody>
      </p:sp>
      <p:sp>
        <p:nvSpPr>
          <p:cNvPr id="16" name="Shape 12"/>
          <p:cNvSpPr/>
          <p:nvPr/>
        </p:nvSpPr>
        <p:spPr>
          <a:xfrm>
            <a:off x="4910544" y="3388963"/>
            <a:ext cx="507987" cy="330192"/>
          </a:xfrm>
          <a:prstGeom prst="roundRect">
            <a:avLst>
              <a:gd name="adj" fmla="val 25000"/>
            </a:avLst>
          </a:prstGeom>
          <a:solidFill>
            <a:srgbClr val="00FFFF">
              <a:alpha val="10000"/>
            </a:srgbClr>
          </a:solidFill>
          <a:ln/>
        </p:spPr>
        <p:txBody>
          <a:bodyPr/>
          <a:lstStyle/>
          <a:p>
            <a:endParaRPr lang="en-IN"/>
          </a:p>
        </p:txBody>
      </p:sp>
      <p:sp>
        <p:nvSpPr>
          <p:cNvPr id="17" name="Text 13"/>
          <p:cNvSpPr/>
          <p:nvPr/>
        </p:nvSpPr>
        <p:spPr>
          <a:xfrm>
            <a:off x="4910544" y="3388963"/>
            <a:ext cx="507987" cy="330192"/>
          </a:xfrm>
          <a:prstGeom prst="rect">
            <a:avLst/>
          </a:prstGeom>
          <a:noFill/>
          <a:ln/>
        </p:spPr>
        <p:txBody>
          <a:bodyPr wrap="square" lIns="0" tIns="0" rIns="0" bIns="0" rtlCol="0" anchor="t"/>
          <a:lstStyle/>
          <a:p>
            <a:pPr marL="0" indent="0" algn="ctr">
              <a:lnSpc>
                <a:spcPct val="185714"/>
              </a:lnSpc>
              <a:buNone/>
            </a:pPr>
            <a:r>
              <a:rPr lang="en-US" sz="1300" b="1" dirty="0">
                <a:solidFill>
                  <a:srgbClr val="00FFFF"/>
                </a:solidFill>
                <a:latin typeface="Calibri" pitchFamily="34" charset="0"/>
                <a:ea typeface="Calibri" pitchFamily="34" charset="-122"/>
                <a:cs typeface="Calibri" pitchFamily="34" charset="-120"/>
              </a:rPr>
              <a:t>02
</a:t>
            </a:r>
            <a:endParaRPr lang="en-US" sz="1300" dirty="0"/>
          </a:p>
        </p:txBody>
      </p:sp>
      <p:sp>
        <p:nvSpPr>
          <p:cNvPr id="18" name="Shape 14"/>
          <p:cNvSpPr/>
          <p:nvPr/>
        </p:nvSpPr>
        <p:spPr>
          <a:xfrm>
            <a:off x="5240735" y="4752856"/>
            <a:ext cx="507987" cy="330192"/>
          </a:xfrm>
          <a:prstGeom prst="roundRect">
            <a:avLst>
              <a:gd name="adj" fmla="val 25000"/>
            </a:avLst>
          </a:prstGeom>
          <a:solidFill>
            <a:srgbClr val="00FFFF">
              <a:alpha val="10000"/>
            </a:srgbClr>
          </a:solidFill>
          <a:ln/>
        </p:spPr>
        <p:txBody>
          <a:bodyPr/>
          <a:lstStyle/>
          <a:p>
            <a:endParaRPr lang="en-IN"/>
          </a:p>
        </p:txBody>
      </p:sp>
      <p:sp>
        <p:nvSpPr>
          <p:cNvPr id="19" name="Text 15"/>
          <p:cNvSpPr/>
          <p:nvPr/>
        </p:nvSpPr>
        <p:spPr>
          <a:xfrm>
            <a:off x="5240735" y="4752856"/>
            <a:ext cx="507987" cy="330192"/>
          </a:xfrm>
          <a:prstGeom prst="rect">
            <a:avLst/>
          </a:prstGeom>
          <a:noFill/>
          <a:ln/>
        </p:spPr>
        <p:txBody>
          <a:bodyPr wrap="square" lIns="0" tIns="0" rIns="0" bIns="0" rtlCol="0" anchor="t"/>
          <a:lstStyle/>
          <a:p>
            <a:pPr marL="0" indent="0" algn="ctr">
              <a:lnSpc>
                <a:spcPct val="185714"/>
              </a:lnSpc>
              <a:buNone/>
            </a:pPr>
            <a:r>
              <a:rPr lang="en-US" sz="1300" b="1" dirty="0">
                <a:solidFill>
                  <a:srgbClr val="00FFFF"/>
                </a:solidFill>
                <a:latin typeface="Calibri" pitchFamily="34" charset="0"/>
                <a:ea typeface="Calibri" pitchFamily="34" charset="-122"/>
                <a:cs typeface="Calibri" pitchFamily="34" charset="-120"/>
              </a:rPr>
              <a:t>03
</a:t>
            </a:r>
            <a:endParaRPr lang="en-US" sz="1300" dirty="0"/>
          </a:p>
        </p:txBody>
      </p:sp>
      <p:pic>
        <p:nvPicPr>
          <p:cNvPr id="20" name="Image 2" descr="preencoded.png"/>
          <p:cNvPicPr>
            <a:picLocks noChangeAspect="1"/>
          </p:cNvPicPr>
          <p:nvPr/>
        </p:nvPicPr>
        <p:blipFill>
          <a:blip r:embed="rId5"/>
          <a:srcRect/>
          <a:stretch/>
        </p:blipFill>
        <p:spPr>
          <a:xfrm>
            <a:off x="761981" y="1828489"/>
            <a:ext cx="4190895" cy="2793930"/>
          </a:xfrm>
          <a:prstGeom prst="rect">
            <a:avLst/>
          </a:prstGeom>
        </p:spPr>
      </p:pic>
      <p:sp>
        <p:nvSpPr>
          <p:cNvPr id="21" name="Text 16"/>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sp>
        <p:nvSpPr>
          <p:cNvPr id="3" name="Shape 0"/>
          <p:cNvSpPr/>
          <p:nvPr/>
        </p:nvSpPr>
        <p:spPr>
          <a:xfrm>
            <a:off x="761981" y="1777955"/>
            <a:ext cx="2552636" cy="3892188"/>
          </a:xfrm>
          <a:prstGeom prst="roundRect">
            <a:avLst>
              <a:gd name="adj" fmla="val 8955"/>
            </a:avLst>
          </a:prstGeom>
          <a:solidFill>
            <a:srgbClr val="000000">
              <a:alpha val="0"/>
            </a:srgbClr>
          </a:solidFill>
          <a:ln w="8467">
            <a:solidFill>
              <a:srgbClr val="00FFFF"/>
            </a:solidFill>
            <a:prstDash val="solid"/>
          </a:ln>
        </p:spPr>
        <p:txBody>
          <a:bodyPr/>
          <a:lstStyle/>
          <a:p>
            <a:endParaRPr lang="en-IN"/>
          </a:p>
        </p:txBody>
      </p:sp>
      <p:sp>
        <p:nvSpPr>
          <p:cNvPr id="4" name="Shape 1"/>
          <p:cNvSpPr/>
          <p:nvPr/>
        </p:nvSpPr>
        <p:spPr>
          <a:xfrm>
            <a:off x="3466881" y="1777955"/>
            <a:ext cx="2552769" cy="3892188"/>
          </a:xfrm>
          <a:prstGeom prst="roundRect">
            <a:avLst>
              <a:gd name="adj" fmla="val 8955"/>
            </a:avLst>
          </a:prstGeom>
          <a:solidFill>
            <a:srgbClr val="000000">
              <a:alpha val="0"/>
            </a:srgbClr>
          </a:solidFill>
          <a:ln w="8467">
            <a:solidFill>
              <a:srgbClr val="00FFFF">
                <a:alpha val="18000"/>
              </a:srgbClr>
            </a:solidFill>
            <a:prstDash val="solid"/>
          </a:ln>
        </p:spPr>
        <p:txBody>
          <a:bodyPr/>
          <a:lstStyle/>
          <a:p>
            <a:endParaRPr lang="en-IN"/>
          </a:p>
        </p:txBody>
      </p:sp>
      <p:sp>
        <p:nvSpPr>
          <p:cNvPr id="5" name="Shape 2"/>
          <p:cNvSpPr/>
          <p:nvPr/>
        </p:nvSpPr>
        <p:spPr>
          <a:xfrm>
            <a:off x="6171913" y="1777955"/>
            <a:ext cx="2552769" cy="3892188"/>
          </a:xfrm>
          <a:prstGeom prst="roundRect">
            <a:avLst>
              <a:gd name="adj" fmla="val 8955"/>
            </a:avLst>
          </a:prstGeom>
          <a:solidFill>
            <a:srgbClr val="000000">
              <a:alpha val="0"/>
            </a:srgbClr>
          </a:solidFill>
          <a:ln w="8467">
            <a:solidFill>
              <a:srgbClr val="00FFFF">
                <a:alpha val="18000"/>
              </a:srgbClr>
            </a:solidFill>
            <a:prstDash val="solid"/>
          </a:ln>
        </p:spPr>
        <p:txBody>
          <a:bodyPr/>
          <a:lstStyle/>
          <a:p>
            <a:endParaRPr lang="en-IN"/>
          </a:p>
        </p:txBody>
      </p:sp>
      <p:sp>
        <p:nvSpPr>
          <p:cNvPr id="6" name="Shape 3"/>
          <p:cNvSpPr/>
          <p:nvPr/>
        </p:nvSpPr>
        <p:spPr>
          <a:xfrm>
            <a:off x="8876945" y="1777955"/>
            <a:ext cx="2552769" cy="3892188"/>
          </a:xfrm>
          <a:prstGeom prst="roundRect">
            <a:avLst>
              <a:gd name="adj" fmla="val 8955"/>
            </a:avLst>
          </a:prstGeom>
          <a:solidFill>
            <a:srgbClr val="000000">
              <a:alpha val="0"/>
            </a:srgbClr>
          </a:solidFill>
          <a:ln w="8467">
            <a:solidFill>
              <a:srgbClr val="00FFFF">
                <a:alpha val="18000"/>
              </a:srgbClr>
            </a:solidFill>
            <a:prstDash val="solid"/>
          </a:ln>
        </p:spPr>
        <p:txBody>
          <a:bodyPr/>
          <a:lstStyle/>
          <a:p>
            <a:endParaRPr lang="en-IN"/>
          </a:p>
        </p:txBody>
      </p:sp>
      <p:pic>
        <p:nvPicPr>
          <p:cNvPr id="7" name="Image 1" descr="preencoded.png"/>
          <p:cNvPicPr>
            <a:picLocks noChangeAspect="1"/>
          </p:cNvPicPr>
          <p:nvPr/>
        </p:nvPicPr>
        <p:blipFill>
          <a:blip r:embed="rId4"/>
          <a:stretch>
            <a:fillRect/>
          </a:stretch>
        </p:blipFill>
        <p:spPr>
          <a:xfrm>
            <a:off x="761981" y="1650959"/>
            <a:ext cx="380990" cy="380990"/>
          </a:xfrm>
          <a:prstGeom prst="rect">
            <a:avLst/>
          </a:prstGeom>
        </p:spPr>
      </p:pic>
      <p:sp>
        <p:nvSpPr>
          <p:cNvPr id="8" name="Text 4"/>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10000"/>
              </a:lnSpc>
              <a:buNone/>
            </a:pPr>
            <a:r>
              <a:rPr lang="en-US" sz="2900" b="1" dirty="0">
                <a:solidFill>
                  <a:srgbClr val="00FFFF"/>
                </a:solidFill>
                <a:latin typeface="Trebuchet MS" pitchFamily="34" charset="0"/>
                <a:ea typeface="Trebuchet MS" pitchFamily="34" charset="-122"/>
                <a:cs typeface="Trebuchet MS" pitchFamily="34" charset="-120"/>
              </a:rPr>
              <a:t>Scope of the Project
</a:t>
            </a:r>
            <a:endParaRPr lang="en-US" sz="2900" dirty="0"/>
          </a:p>
        </p:txBody>
      </p:sp>
      <p:sp>
        <p:nvSpPr>
          <p:cNvPr id="9" name="Text 5"/>
          <p:cNvSpPr/>
          <p:nvPr/>
        </p:nvSpPr>
        <p:spPr>
          <a:xfrm>
            <a:off x="950227" y="4480607"/>
            <a:ext cx="2176143" cy="190230"/>
          </a:xfrm>
          <a:prstGeom prst="rect">
            <a:avLst/>
          </a:prstGeom>
          <a:noFill/>
          <a:ln/>
        </p:spPr>
        <p:txBody>
          <a:bodyPr wrap="square" lIns="1016" tIns="1016" rIns="1016" bIns="1016" rtlCol="0" anchor="t"/>
          <a:lstStyle/>
          <a:p>
            <a:pPr marL="0" indent="0">
              <a:lnSpc>
                <a:spcPct val="124944"/>
              </a:lnSpc>
              <a:buNone/>
            </a:pPr>
            <a:r>
              <a:rPr lang="en-US" sz="1100" b="1" dirty="0">
                <a:solidFill>
                  <a:srgbClr val="00FFFF"/>
                </a:solidFill>
                <a:latin typeface="Trebuchet MS" pitchFamily="34" charset="0"/>
                <a:ea typeface="Trebuchet MS" pitchFamily="34" charset="-122"/>
                <a:cs typeface="Trebuchet MS" pitchFamily="34" charset="-120"/>
              </a:rPr>
              <a:t>Focus on Individual Users
</a:t>
            </a:r>
            <a:endParaRPr lang="en-US" sz="1100" dirty="0"/>
          </a:p>
        </p:txBody>
      </p:sp>
      <p:sp>
        <p:nvSpPr>
          <p:cNvPr id="10" name="Text 6"/>
          <p:cNvSpPr/>
          <p:nvPr/>
        </p:nvSpPr>
        <p:spPr>
          <a:xfrm>
            <a:off x="950227" y="4708804"/>
            <a:ext cx="2176143" cy="773093"/>
          </a:xfrm>
          <a:prstGeom prst="rect">
            <a:avLst/>
          </a:prstGeom>
          <a:noFill/>
          <a:ln/>
        </p:spPr>
        <p:txBody>
          <a:bodyPr wrap="square" lIns="1016" tIns="1016" rIns="1016" bIns="1016" rtlCol="0" anchor="t"/>
          <a:lstStyle/>
          <a:p>
            <a:pPr marL="0" indent="0">
              <a:lnSpc>
                <a:spcPct val="152182"/>
              </a:lnSpc>
              <a:buNone/>
            </a:pPr>
            <a:r>
              <a:rPr lang="en-US" sz="900" dirty="0">
                <a:solidFill>
                  <a:srgbClr val="B8C5D6"/>
                </a:solidFill>
                <a:latin typeface="Trebuchet MS" pitchFamily="34" charset="0"/>
                <a:ea typeface="Trebuchet MS" pitchFamily="34" charset="-122"/>
                <a:cs typeface="Trebuchet MS" pitchFamily="34" charset="-120"/>
              </a:rPr>
              <a:t>The project targets personal file organization specifically for individual users, enhancing their productivity and efficiency.
</a:t>
            </a:r>
            <a:endParaRPr lang="en-US" sz="900" dirty="0"/>
          </a:p>
        </p:txBody>
      </p:sp>
      <p:sp>
        <p:nvSpPr>
          <p:cNvPr id="11" name="Text 7"/>
          <p:cNvSpPr/>
          <p:nvPr/>
        </p:nvSpPr>
        <p:spPr>
          <a:xfrm>
            <a:off x="3655128" y="4480607"/>
            <a:ext cx="2176275" cy="190230"/>
          </a:xfrm>
          <a:prstGeom prst="rect">
            <a:avLst/>
          </a:prstGeom>
          <a:noFill/>
          <a:ln/>
        </p:spPr>
        <p:txBody>
          <a:bodyPr wrap="square" lIns="1016" tIns="1016" rIns="1016" bIns="1016" rtlCol="0" anchor="t"/>
          <a:lstStyle/>
          <a:p>
            <a:pPr marL="0" indent="0">
              <a:lnSpc>
                <a:spcPct val="124944"/>
              </a:lnSpc>
              <a:buNone/>
            </a:pPr>
            <a:r>
              <a:rPr lang="en-US" sz="1100" b="1" dirty="0">
                <a:solidFill>
                  <a:srgbClr val="00FFFF"/>
                </a:solidFill>
                <a:latin typeface="Trebuchet MS" pitchFamily="34" charset="0"/>
                <a:ea typeface="Trebuchet MS" pitchFamily="34" charset="-122"/>
                <a:cs typeface="Trebuchet MS" pitchFamily="34" charset="-120"/>
              </a:rPr>
              <a:t>Key Features Included
</a:t>
            </a:r>
            <a:endParaRPr lang="en-US" sz="1100" dirty="0"/>
          </a:p>
        </p:txBody>
      </p:sp>
      <p:sp>
        <p:nvSpPr>
          <p:cNvPr id="12" name="Text 8"/>
          <p:cNvSpPr/>
          <p:nvPr/>
        </p:nvSpPr>
        <p:spPr>
          <a:xfrm>
            <a:off x="3655128" y="4708804"/>
            <a:ext cx="2176275" cy="773093"/>
          </a:xfrm>
          <a:prstGeom prst="rect">
            <a:avLst/>
          </a:prstGeom>
          <a:noFill/>
          <a:ln/>
        </p:spPr>
        <p:txBody>
          <a:bodyPr wrap="square" lIns="1016" tIns="1016" rIns="1016" bIns="1016" rtlCol="0" anchor="t"/>
          <a:lstStyle/>
          <a:p>
            <a:pPr marL="0" indent="0">
              <a:lnSpc>
                <a:spcPct val="152182"/>
              </a:lnSpc>
              <a:buNone/>
            </a:pPr>
            <a:r>
              <a:rPr lang="en-US" sz="900" dirty="0">
                <a:solidFill>
                  <a:srgbClr val="B8C5D6"/>
                </a:solidFill>
                <a:latin typeface="Trebuchet MS" pitchFamily="34" charset="0"/>
                <a:ea typeface="Trebuchet MS" pitchFamily="34" charset="-122"/>
                <a:cs typeface="Trebuchet MS" pitchFamily="34" charset="-120"/>
              </a:rPr>
              <a:t>It incorporates categorization, searchability, and an intuitive user interface to streamline file management processes.
</a:t>
            </a:r>
            <a:endParaRPr lang="en-US" sz="900" dirty="0"/>
          </a:p>
        </p:txBody>
      </p:sp>
      <p:sp>
        <p:nvSpPr>
          <p:cNvPr id="13" name="Text 9"/>
          <p:cNvSpPr/>
          <p:nvPr/>
        </p:nvSpPr>
        <p:spPr>
          <a:xfrm>
            <a:off x="6360160" y="4480607"/>
            <a:ext cx="2176275" cy="190230"/>
          </a:xfrm>
          <a:prstGeom prst="rect">
            <a:avLst/>
          </a:prstGeom>
          <a:noFill/>
          <a:ln/>
        </p:spPr>
        <p:txBody>
          <a:bodyPr wrap="square" lIns="1016" tIns="1016" rIns="1016" bIns="1016" rtlCol="0" anchor="t"/>
          <a:lstStyle/>
          <a:p>
            <a:pPr marL="0" indent="0">
              <a:lnSpc>
                <a:spcPct val="124944"/>
              </a:lnSpc>
              <a:buNone/>
            </a:pPr>
            <a:r>
              <a:rPr lang="en-US" sz="1100" b="1" dirty="0">
                <a:solidFill>
                  <a:srgbClr val="00FFFF"/>
                </a:solidFill>
                <a:latin typeface="Trebuchet MS" pitchFamily="34" charset="0"/>
                <a:ea typeface="Trebuchet MS" pitchFamily="34" charset="-122"/>
                <a:cs typeface="Trebuchet MS" pitchFamily="34" charset="-120"/>
              </a:rPr>
              <a:t>Future Collaboration Tools
</a:t>
            </a:r>
            <a:endParaRPr lang="en-US" sz="1100" dirty="0"/>
          </a:p>
        </p:txBody>
      </p:sp>
      <p:sp>
        <p:nvSpPr>
          <p:cNvPr id="14" name="Text 10"/>
          <p:cNvSpPr/>
          <p:nvPr/>
        </p:nvSpPr>
        <p:spPr>
          <a:xfrm>
            <a:off x="6360160" y="4708804"/>
            <a:ext cx="2176275" cy="773093"/>
          </a:xfrm>
          <a:prstGeom prst="rect">
            <a:avLst/>
          </a:prstGeom>
          <a:noFill/>
          <a:ln/>
        </p:spPr>
        <p:txBody>
          <a:bodyPr wrap="square" lIns="1016" tIns="1016" rIns="1016" bIns="1016" rtlCol="0" anchor="t"/>
          <a:lstStyle/>
          <a:p>
            <a:pPr marL="0" indent="0">
              <a:lnSpc>
                <a:spcPct val="152182"/>
              </a:lnSpc>
              <a:buNone/>
            </a:pPr>
            <a:r>
              <a:rPr lang="en-US" sz="900" dirty="0">
                <a:solidFill>
                  <a:srgbClr val="B8C5D6"/>
                </a:solidFill>
                <a:latin typeface="Trebuchet MS" pitchFamily="34" charset="0"/>
                <a:ea typeface="Trebuchet MS" pitchFamily="34" charset="-122"/>
                <a:cs typeface="Trebuchet MS" pitchFamily="34" charset="-120"/>
              </a:rPr>
              <a:t>Future expansions may introduce collaboration tools, enabling users to share and manage files within teams effectively.
</a:t>
            </a:r>
            <a:endParaRPr lang="en-US" sz="900" dirty="0"/>
          </a:p>
        </p:txBody>
      </p:sp>
      <p:sp>
        <p:nvSpPr>
          <p:cNvPr id="15" name="Text 11"/>
          <p:cNvSpPr/>
          <p:nvPr/>
        </p:nvSpPr>
        <p:spPr>
          <a:xfrm>
            <a:off x="9065192" y="4480607"/>
            <a:ext cx="2176275" cy="190230"/>
          </a:xfrm>
          <a:prstGeom prst="rect">
            <a:avLst/>
          </a:prstGeom>
          <a:noFill/>
          <a:ln/>
        </p:spPr>
        <p:txBody>
          <a:bodyPr wrap="square" lIns="1016" tIns="1016" rIns="1016" bIns="1016" rtlCol="0" anchor="t"/>
          <a:lstStyle/>
          <a:p>
            <a:pPr marL="0" indent="0">
              <a:lnSpc>
                <a:spcPct val="124944"/>
              </a:lnSpc>
              <a:buNone/>
            </a:pPr>
            <a:r>
              <a:rPr lang="en-US" sz="1100" b="1" dirty="0">
                <a:solidFill>
                  <a:srgbClr val="00FFFF"/>
                </a:solidFill>
                <a:latin typeface="Trebuchet MS" pitchFamily="34" charset="0"/>
                <a:ea typeface="Trebuchet MS" pitchFamily="34" charset="-122"/>
                <a:cs typeface="Trebuchet MS" pitchFamily="34" charset="-120"/>
              </a:rPr>
              <a:t>User-Centric Design
</a:t>
            </a:r>
            <a:endParaRPr lang="en-US" sz="1100" dirty="0"/>
          </a:p>
        </p:txBody>
      </p:sp>
      <p:sp>
        <p:nvSpPr>
          <p:cNvPr id="16" name="Text 12"/>
          <p:cNvSpPr/>
          <p:nvPr/>
        </p:nvSpPr>
        <p:spPr>
          <a:xfrm>
            <a:off x="9065192" y="4708804"/>
            <a:ext cx="2176275" cy="773093"/>
          </a:xfrm>
          <a:prstGeom prst="rect">
            <a:avLst/>
          </a:prstGeom>
          <a:noFill/>
          <a:ln/>
        </p:spPr>
        <p:txBody>
          <a:bodyPr wrap="square" lIns="1016" tIns="1016" rIns="1016" bIns="1016" rtlCol="0" anchor="t"/>
          <a:lstStyle/>
          <a:p>
            <a:pPr marL="0" indent="0">
              <a:lnSpc>
                <a:spcPct val="152182"/>
              </a:lnSpc>
              <a:buNone/>
            </a:pPr>
            <a:r>
              <a:rPr lang="en-US" sz="900" dirty="0">
                <a:solidFill>
                  <a:srgbClr val="B8C5D6"/>
                </a:solidFill>
                <a:latin typeface="Trebuchet MS" pitchFamily="34" charset="0"/>
                <a:ea typeface="Trebuchet MS" pitchFamily="34" charset="-122"/>
                <a:cs typeface="Trebuchet MS" pitchFamily="34" charset="-120"/>
              </a:rPr>
              <a:t>The design prioritizes user experience, ensuring easy navigation and accessibility for all file types and formats.
</a:t>
            </a:r>
            <a:endParaRPr lang="en-US" sz="900" dirty="0"/>
          </a:p>
        </p:txBody>
      </p:sp>
      <p:sp>
        <p:nvSpPr>
          <p:cNvPr id="17" name="Shape 13"/>
          <p:cNvSpPr/>
          <p:nvPr/>
        </p:nvSpPr>
        <p:spPr>
          <a:xfrm>
            <a:off x="941761" y="4097632"/>
            <a:ext cx="380726" cy="247511"/>
          </a:xfrm>
          <a:prstGeom prst="roundRect">
            <a:avLst>
              <a:gd name="adj" fmla="val 25000"/>
            </a:avLst>
          </a:prstGeom>
          <a:solidFill>
            <a:srgbClr val="00FFFF">
              <a:alpha val="10000"/>
            </a:srgbClr>
          </a:solidFill>
          <a:ln/>
        </p:spPr>
        <p:txBody>
          <a:bodyPr/>
          <a:lstStyle/>
          <a:p>
            <a:endParaRPr lang="en-IN"/>
          </a:p>
        </p:txBody>
      </p:sp>
      <p:sp>
        <p:nvSpPr>
          <p:cNvPr id="18" name="Text 14"/>
          <p:cNvSpPr/>
          <p:nvPr/>
        </p:nvSpPr>
        <p:spPr>
          <a:xfrm>
            <a:off x="941761" y="4097632"/>
            <a:ext cx="380726" cy="247511"/>
          </a:xfrm>
          <a:prstGeom prst="rect">
            <a:avLst/>
          </a:prstGeom>
          <a:noFill/>
          <a:ln/>
        </p:spPr>
        <p:txBody>
          <a:bodyPr wrap="square" lIns="0" tIns="0" rIns="0" bIns="0" rtlCol="0" anchor="t"/>
          <a:lstStyle/>
          <a:p>
            <a:pPr marL="0" indent="0" algn="ctr">
              <a:lnSpc>
                <a:spcPct val="260000"/>
              </a:lnSpc>
              <a:buNone/>
            </a:pPr>
            <a:r>
              <a:rPr lang="en-US" sz="900" b="1" dirty="0">
                <a:solidFill>
                  <a:srgbClr val="00FFFF"/>
                </a:solidFill>
                <a:latin typeface="Calibri" pitchFamily="34" charset="0"/>
                <a:ea typeface="Calibri" pitchFamily="34" charset="-122"/>
                <a:cs typeface="Calibri" pitchFamily="34" charset="-120"/>
              </a:rPr>
              <a:t>01
</a:t>
            </a:r>
            <a:endParaRPr lang="en-US" sz="900" dirty="0"/>
          </a:p>
        </p:txBody>
      </p:sp>
      <p:sp>
        <p:nvSpPr>
          <p:cNvPr id="19" name="Shape 15"/>
          <p:cNvSpPr/>
          <p:nvPr/>
        </p:nvSpPr>
        <p:spPr>
          <a:xfrm>
            <a:off x="3646661" y="4097632"/>
            <a:ext cx="380726" cy="247511"/>
          </a:xfrm>
          <a:prstGeom prst="roundRect">
            <a:avLst>
              <a:gd name="adj" fmla="val 25000"/>
            </a:avLst>
          </a:prstGeom>
          <a:solidFill>
            <a:srgbClr val="00FFFF">
              <a:alpha val="10000"/>
            </a:srgbClr>
          </a:solidFill>
          <a:ln/>
        </p:spPr>
        <p:txBody>
          <a:bodyPr/>
          <a:lstStyle/>
          <a:p>
            <a:endParaRPr lang="en-IN"/>
          </a:p>
        </p:txBody>
      </p:sp>
      <p:sp>
        <p:nvSpPr>
          <p:cNvPr id="20" name="Text 16"/>
          <p:cNvSpPr/>
          <p:nvPr/>
        </p:nvSpPr>
        <p:spPr>
          <a:xfrm>
            <a:off x="3646661" y="4097632"/>
            <a:ext cx="380726" cy="247511"/>
          </a:xfrm>
          <a:prstGeom prst="rect">
            <a:avLst/>
          </a:prstGeom>
          <a:noFill/>
          <a:ln/>
        </p:spPr>
        <p:txBody>
          <a:bodyPr wrap="square" lIns="0" tIns="0" rIns="0" bIns="0" rtlCol="0" anchor="t"/>
          <a:lstStyle/>
          <a:p>
            <a:pPr marL="0" indent="0" algn="ctr">
              <a:lnSpc>
                <a:spcPct val="260000"/>
              </a:lnSpc>
              <a:buNone/>
            </a:pPr>
            <a:r>
              <a:rPr lang="en-US" sz="900" b="1" dirty="0">
                <a:solidFill>
                  <a:srgbClr val="00FFFF"/>
                </a:solidFill>
                <a:latin typeface="Calibri" pitchFamily="34" charset="0"/>
                <a:ea typeface="Calibri" pitchFamily="34" charset="-122"/>
                <a:cs typeface="Calibri" pitchFamily="34" charset="-120"/>
              </a:rPr>
              <a:t>02
</a:t>
            </a:r>
            <a:endParaRPr lang="en-US" sz="900" dirty="0"/>
          </a:p>
        </p:txBody>
      </p:sp>
      <p:sp>
        <p:nvSpPr>
          <p:cNvPr id="21" name="Shape 17"/>
          <p:cNvSpPr/>
          <p:nvPr/>
        </p:nvSpPr>
        <p:spPr>
          <a:xfrm>
            <a:off x="6351693" y="4097632"/>
            <a:ext cx="380727" cy="247511"/>
          </a:xfrm>
          <a:prstGeom prst="roundRect">
            <a:avLst>
              <a:gd name="adj" fmla="val 25000"/>
            </a:avLst>
          </a:prstGeom>
          <a:solidFill>
            <a:srgbClr val="00FFFF">
              <a:alpha val="10000"/>
            </a:srgbClr>
          </a:solidFill>
          <a:ln/>
        </p:spPr>
        <p:txBody>
          <a:bodyPr/>
          <a:lstStyle/>
          <a:p>
            <a:endParaRPr lang="en-IN"/>
          </a:p>
        </p:txBody>
      </p:sp>
      <p:sp>
        <p:nvSpPr>
          <p:cNvPr id="22" name="Text 18"/>
          <p:cNvSpPr/>
          <p:nvPr/>
        </p:nvSpPr>
        <p:spPr>
          <a:xfrm>
            <a:off x="6351693" y="4097632"/>
            <a:ext cx="380727" cy="247511"/>
          </a:xfrm>
          <a:prstGeom prst="rect">
            <a:avLst/>
          </a:prstGeom>
          <a:noFill/>
          <a:ln/>
        </p:spPr>
        <p:txBody>
          <a:bodyPr wrap="square" lIns="0" tIns="0" rIns="0" bIns="0" rtlCol="0" anchor="t"/>
          <a:lstStyle/>
          <a:p>
            <a:pPr marL="0" indent="0" algn="ctr">
              <a:lnSpc>
                <a:spcPct val="260000"/>
              </a:lnSpc>
              <a:buNone/>
            </a:pPr>
            <a:r>
              <a:rPr lang="en-US" sz="900" b="1" dirty="0">
                <a:solidFill>
                  <a:srgbClr val="00FFFF"/>
                </a:solidFill>
                <a:latin typeface="Calibri" pitchFamily="34" charset="0"/>
                <a:ea typeface="Calibri" pitchFamily="34" charset="-122"/>
                <a:cs typeface="Calibri" pitchFamily="34" charset="-120"/>
              </a:rPr>
              <a:t>03
</a:t>
            </a:r>
            <a:endParaRPr lang="en-US" sz="900" dirty="0"/>
          </a:p>
        </p:txBody>
      </p:sp>
      <p:sp>
        <p:nvSpPr>
          <p:cNvPr id="23" name="Shape 19"/>
          <p:cNvSpPr/>
          <p:nvPr/>
        </p:nvSpPr>
        <p:spPr>
          <a:xfrm>
            <a:off x="9056725" y="4097632"/>
            <a:ext cx="380727" cy="247511"/>
          </a:xfrm>
          <a:prstGeom prst="roundRect">
            <a:avLst>
              <a:gd name="adj" fmla="val 25000"/>
            </a:avLst>
          </a:prstGeom>
          <a:solidFill>
            <a:srgbClr val="00FFFF">
              <a:alpha val="10000"/>
            </a:srgbClr>
          </a:solidFill>
          <a:ln/>
        </p:spPr>
        <p:txBody>
          <a:bodyPr/>
          <a:lstStyle/>
          <a:p>
            <a:endParaRPr lang="en-IN"/>
          </a:p>
        </p:txBody>
      </p:sp>
      <p:sp>
        <p:nvSpPr>
          <p:cNvPr id="24" name="Text 20"/>
          <p:cNvSpPr/>
          <p:nvPr/>
        </p:nvSpPr>
        <p:spPr>
          <a:xfrm>
            <a:off x="9056725" y="4097632"/>
            <a:ext cx="380727" cy="247511"/>
          </a:xfrm>
          <a:prstGeom prst="rect">
            <a:avLst/>
          </a:prstGeom>
          <a:noFill/>
          <a:ln/>
        </p:spPr>
        <p:txBody>
          <a:bodyPr wrap="square" lIns="0" tIns="0" rIns="0" bIns="0" rtlCol="0" anchor="t"/>
          <a:lstStyle/>
          <a:p>
            <a:pPr marL="0" indent="0" algn="ctr">
              <a:lnSpc>
                <a:spcPct val="260000"/>
              </a:lnSpc>
              <a:buNone/>
            </a:pPr>
            <a:r>
              <a:rPr lang="en-US" sz="900" b="1" dirty="0">
                <a:solidFill>
                  <a:srgbClr val="00FFFF"/>
                </a:solidFill>
                <a:latin typeface="Calibri" pitchFamily="34" charset="0"/>
                <a:ea typeface="Calibri" pitchFamily="34" charset="-122"/>
                <a:cs typeface="Calibri" pitchFamily="34" charset="-120"/>
              </a:rPr>
              <a:t>04
</a:t>
            </a:r>
            <a:endParaRPr lang="en-US" sz="900" dirty="0"/>
          </a:p>
        </p:txBody>
      </p:sp>
      <p:pic>
        <p:nvPicPr>
          <p:cNvPr id="25" name="Image 2" descr="preencoded.png"/>
          <p:cNvPicPr>
            <a:picLocks noChangeAspect="1"/>
          </p:cNvPicPr>
          <p:nvPr/>
        </p:nvPicPr>
        <p:blipFill>
          <a:blip r:embed="rId5"/>
          <a:srcRect/>
          <a:stretch/>
        </p:blipFill>
        <p:spPr>
          <a:xfrm>
            <a:off x="770447" y="1786422"/>
            <a:ext cx="2535703" cy="2158946"/>
          </a:xfrm>
          <a:prstGeom prst="rect">
            <a:avLst/>
          </a:prstGeom>
        </p:spPr>
      </p:pic>
      <p:pic>
        <p:nvPicPr>
          <p:cNvPr id="26" name="Image 3" descr="preencoded.png"/>
          <p:cNvPicPr>
            <a:picLocks noChangeAspect="1"/>
          </p:cNvPicPr>
          <p:nvPr/>
        </p:nvPicPr>
        <p:blipFill>
          <a:blip r:embed="rId6"/>
          <a:srcRect/>
          <a:stretch/>
        </p:blipFill>
        <p:spPr>
          <a:xfrm>
            <a:off x="3475348" y="1786422"/>
            <a:ext cx="2535835" cy="2158946"/>
          </a:xfrm>
          <a:prstGeom prst="rect">
            <a:avLst/>
          </a:prstGeom>
        </p:spPr>
      </p:pic>
      <p:pic>
        <p:nvPicPr>
          <p:cNvPr id="27" name="Image 4" descr="preencoded.png"/>
          <p:cNvPicPr>
            <a:picLocks noChangeAspect="1"/>
          </p:cNvPicPr>
          <p:nvPr/>
        </p:nvPicPr>
        <p:blipFill>
          <a:blip r:embed="rId7"/>
          <a:srcRect/>
          <a:stretch/>
        </p:blipFill>
        <p:spPr>
          <a:xfrm>
            <a:off x="6180380" y="1786422"/>
            <a:ext cx="2535835" cy="2158946"/>
          </a:xfrm>
          <a:prstGeom prst="rect">
            <a:avLst/>
          </a:prstGeom>
        </p:spPr>
      </p:pic>
      <p:sp>
        <p:nvSpPr>
          <p:cNvPr id="28" name="Text 2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97765" y="2793930"/>
            <a:ext cx="2748210" cy="4018350"/>
          </a:xfrm>
          <a:prstGeom prst="rect">
            <a:avLst/>
          </a:prstGeom>
        </p:spPr>
      </p:pic>
      <p:pic>
        <p:nvPicPr>
          <p:cNvPr id="3" name="Image 1" descr="preencoded.png"/>
          <p:cNvPicPr>
            <a:picLocks noChangeAspect="1"/>
          </p:cNvPicPr>
          <p:nvPr/>
        </p:nvPicPr>
        <p:blipFill>
          <a:blip r:embed="rId4"/>
          <a:stretch>
            <a:fillRect/>
          </a:stretch>
        </p:blipFill>
        <p:spPr>
          <a:xfrm>
            <a:off x="-1269968" y="2793930"/>
            <a:ext cx="4063898" cy="4018350"/>
          </a:xfrm>
          <a:prstGeom prst="rect">
            <a:avLst/>
          </a:prstGeom>
        </p:spPr>
      </p:pic>
      <p:sp>
        <p:nvSpPr>
          <p:cNvPr id="4" name="Shape 0"/>
          <p:cNvSpPr/>
          <p:nvPr/>
        </p:nvSpPr>
        <p:spPr>
          <a:xfrm>
            <a:off x="761981" y="1776104"/>
            <a:ext cx="5181470" cy="3940473"/>
          </a:xfrm>
          <a:prstGeom prst="roundRect">
            <a:avLst>
              <a:gd name="adj" fmla="val 5157"/>
            </a:avLst>
          </a:prstGeom>
          <a:solidFill>
            <a:srgbClr val="000000">
              <a:alpha val="0"/>
            </a:srgbClr>
          </a:solidFill>
          <a:ln w="8467">
            <a:solidFill>
              <a:srgbClr val="00FFFF">
                <a:alpha val="18000"/>
              </a:srgbClr>
            </a:solidFill>
            <a:prstDash val="solid"/>
          </a:ln>
        </p:spPr>
        <p:txBody>
          <a:bodyPr/>
          <a:lstStyle/>
          <a:p>
            <a:endParaRPr lang="en-IN"/>
          </a:p>
        </p:txBody>
      </p:sp>
      <p:sp>
        <p:nvSpPr>
          <p:cNvPr id="5" name="Shape 1"/>
          <p:cNvSpPr/>
          <p:nvPr/>
        </p:nvSpPr>
        <p:spPr>
          <a:xfrm>
            <a:off x="6248244" y="1776104"/>
            <a:ext cx="5181470" cy="3940473"/>
          </a:xfrm>
          <a:prstGeom prst="roundRect">
            <a:avLst>
              <a:gd name="adj" fmla="val 5157"/>
            </a:avLst>
          </a:prstGeom>
          <a:solidFill>
            <a:srgbClr val="000000">
              <a:alpha val="0"/>
            </a:srgbClr>
          </a:solidFill>
          <a:ln w="8467">
            <a:solidFill>
              <a:srgbClr val="00FFFF">
                <a:alpha val="18000"/>
              </a:srgbClr>
            </a:solidFill>
            <a:prstDash val="solid"/>
          </a:ln>
        </p:spPr>
        <p:txBody>
          <a:bodyPr/>
          <a:lstStyle/>
          <a:p>
            <a:endParaRPr lang="en-IN"/>
          </a:p>
        </p:txBody>
      </p:sp>
      <p:pic>
        <p:nvPicPr>
          <p:cNvPr id="6" name="Image 2" descr="preencoded.png"/>
          <p:cNvPicPr>
            <a:picLocks noChangeAspect="1"/>
          </p:cNvPicPr>
          <p:nvPr/>
        </p:nvPicPr>
        <p:blipFill>
          <a:blip r:embed="rId5"/>
          <a:stretch>
            <a:fillRect/>
          </a:stretch>
        </p:blipFill>
        <p:spPr>
          <a:xfrm>
            <a:off x="5460863" y="3873403"/>
            <a:ext cx="1269968" cy="38099"/>
          </a:xfrm>
          <a:prstGeom prst="rect">
            <a:avLst/>
          </a:prstGeom>
        </p:spPr>
      </p:pic>
      <p:pic>
        <p:nvPicPr>
          <p:cNvPr id="7" name="Image 3" descr="preencoded.png"/>
          <p:cNvPicPr>
            <a:picLocks noChangeAspect="1"/>
          </p:cNvPicPr>
          <p:nvPr/>
        </p:nvPicPr>
        <p:blipFill>
          <a:blip r:embed="rId6"/>
          <a:stretch>
            <a:fillRect/>
          </a:stretch>
        </p:blipFill>
        <p:spPr>
          <a:xfrm>
            <a:off x="11239219" y="1523962"/>
            <a:ext cx="380990" cy="380990"/>
          </a:xfrm>
          <a:prstGeom prst="rect">
            <a:avLst/>
          </a:prstGeom>
        </p:spPr>
      </p:pic>
      <p:pic>
        <p:nvPicPr>
          <p:cNvPr id="8" name="Image 4" descr="preencoded.png"/>
          <p:cNvPicPr>
            <a:picLocks noChangeAspect="1"/>
          </p:cNvPicPr>
          <p:nvPr/>
        </p:nvPicPr>
        <p:blipFill>
          <a:blip r:embed="rId7"/>
          <a:stretch>
            <a:fillRect/>
          </a:stretch>
        </p:blipFill>
        <p:spPr>
          <a:xfrm>
            <a:off x="571486" y="1523962"/>
            <a:ext cx="380990" cy="380990"/>
          </a:xfrm>
          <a:prstGeom prst="rect">
            <a:avLst/>
          </a:prstGeom>
        </p:spPr>
      </p:pic>
      <p:sp>
        <p:nvSpPr>
          <p:cNvPr id="9" name="Text 2"/>
          <p:cNvSpPr/>
          <p:nvPr/>
        </p:nvSpPr>
        <p:spPr>
          <a:xfrm>
            <a:off x="761981" y="507987"/>
            <a:ext cx="10667733" cy="888978"/>
          </a:xfrm>
          <a:prstGeom prst="rect">
            <a:avLst/>
          </a:prstGeom>
          <a:noFill/>
          <a:ln/>
        </p:spPr>
        <p:txBody>
          <a:bodyPr wrap="square" lIns="1016" tIns="1016" rIns="1016" bIns="1016" rtlCol="0" anchor="t"/>
          <a:lstStyle/>
          <a:p>
            <a:pPr marL="0" indent="0" algn="l">
              <a:lnSpc>
                <a:spcPct val="110000"/>
              </a:lnSpc>
              <a:buNone/>
            </a:pPr>
            <a:r>
              <a:rPr lang="en-US" sz="2900" b="1" dirty="0">
                <a:solidFill>
                  <a:srgbClr val="00FFFF"/>
                </a:solidFill>
                <a:latin typeface="Trebuchet MS" pitchFamily="34" charset="0"/>
                <a:ea typeface="Trebuchet MS" pitchFamily="34" charset="-122"/>
                <a:cs typeface="Trebuchet MS" pitchFamily="34" charset="-120"/>
              </a:rPr>
              <a:t>Overall challenge being addressed
</a:t>
            </a:r>
            <a:endParaRPr lang="en-US" sz="2900" dirty="0"/>
          </a:p>
        </p:txBody>
      </p:sp>
      <p:sp>
        <p:nvSpPr>
          <p:cNvPr id="10" name="Text 3"/>
          <p:cNvSpPr/>
          <p:nvPr/>
        </p:nvSpPr>
        <p:spPr>
          <a:xfrm>
            <a:off x="999042" y="2063962"/>
            <a:ext cx="4707349" cy="320006"/>
          </a:xfrm>
          <a:prstGeom prst="rect">
            <a:avLst/>
          </a:prstGeom>
          <a:noFill/>
          <a:ln/>
        </p:spPr>
        <p:txBody>
          <a:bodyPr wrap="square" lIns="1016" tIns="1016" rIns="1016" bIns="1016" rtlCol="0" anchor="t"/>
          <a:lstStyle/>
          <a:p>
            <a:pPr marL="0" indent="0" algn="l">
              <a:lnSpc>
                <a:spcPct val="120000"/>
              </a:lnSpc>
              <a:buNone/>
            </a:pPr>
            <a:r>
              <a:rPr lang="en-US" sz="1900" b="1" dirty="0">
                <a:solidFill>
                  <a:srgbClr val="00FFFF"/>
                </a:solidFill>
                <a:latin typeface="Trebuchet MS" pitchFamily="34" charset="0"/>
                <a:ea typeface="Trebuchet MS" pitchFamily="34" charset="-122"/>
                <a:cs typeface="Trebuchet MS" pitchFamily="34" charset="-120"/>
              </a:rPr>
              <a:t>The Problem
</a:t>
            </a:r>
            <a:endParaRPr lang="en-US" sz="1900" dirty="0"/>
          </a:p>
        </p:txBody>
      </p:sp>
      <p:sp>
        <p:nvSpPr>
          <p:cNvPr id="11" name="Text 4"/>
          <p:cNvSpPr/>
          <p:nvPr/>
        </p:nvSpPr>
        <p:spPr>
          <a:xfrm>
            <a:off x="999042" y="2536365"/>
            <a:ext cx="4707349" cy="828654"/>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Current file management solutions are often cumbersome and inefficient, leading to frustration among users.
</a:t>
            </a:r>
            <a:endParaRPr lang="en-US" sz="1400" dirty="0"/>
          </a:p>
        </p:txBody>
      </p:sp>
      <p:sp>
        <p:nvSpPr>
          <p:cNvPr id="12" name="Text 5"/>
          <p:cNvSpPr/>
          <p:nvPr/>
        </p:nvSpPr>
        <p:spPr>
          <a:xfrm>
            <a:off x="1253035" y="3517416"/>
            <a:ext cx="4453355" cy="552436"/>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Existing systems often lack user-friendly interfaces, making navigation difficult.
</a:t>
            </a:r>
            <a:endParaRPr lang="en-US" sz="1400" dirty="0"/>
          </a:p>
        </p:txBody>
      </p:sp>
      <p:sp>
        <p:nvSpPr>
          <p:cNvPr id="13" name="Text 6"/>
          <p:cNvSpPr/>
          <p:nvPr/>
        </p:nvSpPr>
        <p:spPr>
          <a:xfrm>
            <a:off x="1253035" y="4222248"/>
            <a:ext cx="4453355" cy="552436"/>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Many require manual sorting, leading to time-consuming inefficiencies.
</a:t>
            </a:r>
            <a:endParaRPr lang="en-US" sz="1400" dirty="0"/>
          </a:p>
        </p:txBody>
      </p:sp>
      <p:sp>
        <p:nvSpPr>
          <p:cNvPr id="14" name="Text 7"/>
          <p:cNvSpPr/>
          <p:nvPr/>
        </p:nvSpPr>
        <p:spPr>
          <a:xfrm>
            <a:off x="1253035" y="4927080"/>
            <a:ext cx="4453355" cy="552436"/>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Users struggle with finding documents across multiple platforms, resulting in lost productivity.
</a:t>
            </a:r>
            <a:endParaRPr lang="en-US" sz="1400" dirty="0"/>
          </a:p>
        </p:txBody>
      </p:sp>
      <p:sp>
        <p:nvSpPr>
          <p:cNvPr id="15" name="Text 8"/>
          <p:cNvSpPr/>
          <p:nvPr/>
        </p:nvSpPr>
        <p:spPr>
          <a:xfrm>
            <a:off x="6485305" y="2063962"/>
            <a:ext cx="4707349" cy="320006"/>
          </a:xfrm>
          <a:prstGeom prst="rect">
            <a:avLst/>
          </a:prstGeom>
          <a:noFill/>
          <a:ln/>
        </p:spPr>
        <p:txBody>
          <a:bodyPr wrap="square" lIns="1016" tIns="1016" rIns="1016" bIns="1016" rtlCol="0" anchor="t"/>
          <a:lstStyle/>
          <a:p>
            <a:pPr marL="0" indent="0" algn="l">
              <a:lnSpc>
                <a:spcPct val="120000"/>
              </a:lnSpc>
              <a:buNone/>
            </a:pPr>
            <a:r>
              <a:rPr lang="en-US" sz="1900" b="1" dirty="0">
                <a:solidFill>
                  <a:srgbClr val="8B5CF6"/>
                </a:solidFill>
                <a:latin typeface="Trebuchet MS" pitchFamily="34" charset="0"/>
                <a:ea typeface="Trebuchet MS" pitchFamily="34" charset="-122"/>
                <a:cs typeface="Trebuchet MS" pitchFamily="34" charset="-120"/>
              </a:rPr>
              <a:t>Our Solution
</a:t>
            </a:r>
            <a:endParaRPr lang="en-US" sz="1900" dirty="0"/>
          </a:p>
        </p:txBody>
      </p:sp>
      <p:sp>
        <p:nvSpPr>
          <p:cNvPr id="16" name="Text 9"/>
          <p:cNvSpPr/>
          <p:nvPr/>
        </p:nvSpPr>
        <p:spPr>
          <a:xfrm>
            <a:off x="6485305" y="2536365"/>
            <a:ext cx="4707349" cy="828654"/>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We propose a personal file organizer that streamlines document management and enhances user experience.
</a:t>
            </a:r>
            <a:endParaRPr lang="en-US" sz="1400" dirty="0"/>
          </a:p>
        </p:txBody>
      </p:sp>
      <p:sp>
        <p:nvSpPr>
          <p:cNvPr id="17" name="Text 10"/>
          <p:cNvSpPr/>
          <p:nvPr/>
        </p:nvSpPr>
        <p:spPr>
          <a:xfrm>
            <a:off x="6739298" y="3517416"/>
            <a:ext cx="4453355" cy="552436"/>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Intuitive interface that simplifies navigation and file access.
</a:t>
            </a:r>
            <a:endParaRPr lang="en-US" sz="1400" dirty="0"/>
          </a:p>
        </p:txBody>
      </p:sp>
      <p:sp>
        <p:nvSpPr>
          <p:cNvPr id="18" name="Text 11"/>
          <p:cNvSpPr/>
          <p:nvPr/>
        </p:nvSpPr>
        <p:spPr>
          <a:xfrm>
            <a:off x="6739298" y="4222248"/>
            <a:ext cx="4453355" cy="552436"/>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Automated sorting features that save time and reduce manual effort.
</a:t>
            </a:r>
            <a:endParaRPr lang="en-US" sz="1400" dirty="0"/>
          </a:p>
        </p:txBody>
      </p:sp>
      <p:sp>
        <p:nvSpPr>
          <p:cNvPr id="19" name="Text 12"/>
          <p:cNvSpPr/>
          <p:nvPr/>
        </p:nvSpPr>
        <p:spPr>
          <a:xfrm>
            <a:off x="6739298" y="4927080"/>
            <a:ext cx="4453355" cy="552436"/>
          </a:xfrm>
          <a:prstGeom prst="rect">
            <a:avLst/>
          </a:prstGeom>
          <a:noFill/>
          <a:ln/>
        </p:spPr>
        <p:txBody>
          <a:bodyPr wrap="square" lIns="1016" tIns="1016" rIns="1016" bIns="1016" rtlCol="0" anchor="t"/>
          <a:lstStyle/>
          <a:p>
            <a:pPr marL="0" indent="0" algn="l">
              <a:lnSpc>
                <a:spcPct val="145000"/>
              </a:lnSpc>
              <a:buNone/>
            </a:pPr>
            <a:r>
              <a:rPr lang="en-US" sz="1400" dirty="0">
                <a:solidFill>
                  <a:srgbClr val="00FFFF"/>
                </a:solidFill>
                <a:latin typeface="Trebuchet MS" pitchFamily="34" charset="0"/>
                <a:ea typeface="Trebuchet MS" pitchFamily="34" charset="-122"/>
                <a:cs typeface="Trebuchet MS" pitchFamily="34" charset="-120"/>
              </a:rPr>
              <a:t>Centralized document storage that allows users to easily find and manage files.
</a:t>
            </a:r>
            <a:endParaRPr lang="en-US" sz="1400" dirty="0"/>
          </a:p>
        </p:txBody>
      </p:sp>
      <p:sp>
        <p:nvSpPr>
          <p:cNvPr id="20" name="Shape 13"/>
          <p:cNvSpPr/>
          <p:nvPr/>
        </p:nvSpPr>
        <p:spPr>
          <a:xfrm>
            <a:off x="770447" y="1784571"/>
            <a:ext cx="5164537" cy="76197"/>
          </a:xfrm>
          <a:prstGeom prst="rect">
            <a:avLst/>
          </a:prstGeom>
          <a:solidFill>
            <a:srgbClr val="00FFFF"/>
          </a:solidFill>
          <a:ln/>
        </p:spPr>
        <p:txBody>
          <a:bodyPr/>
          <a:lstStyle/>
          <a:p>
            <a:endParaRPr lang="en-IN"/>
          </a:p>
        </p:txBody>
      </p:sp>
      <p:sp>
        <p:nvSpPr>
          <p:cNvPr id="21" name="Shape 14"/>
          <p:cNvSpPr/>
          <p:nvPr/>
        </p:nvSpPr>
        <p:spPr>
          <a:xfrm>
            <a:off x="999042" y="3606313"/>
            <a:ext cx="101597" cy="101597"/>
          </a:xfrm>
          <a:prstGeom prst="ellipse">
            <a:avLst/>
          </a:prstGeom>
          <a:solidFill>
            <a:srgbClr val="00FFFF"/>
          </a:solidFill>
          <a:ln/>
        </p:spPr>
        <p:txBody>
          <a:bodyPr/>
          <a:lstStyle/>
          <a:p>
            <a:endParaRPr lang="en-IN"/>
          </a:p>
        </p:txBody>
      </p:sp>
      <p:sp>
        <p:nvSpPr>
          <p:cNvPr id="22" name="Shape 15"/>
          <p:cNvSpPr/>
          <p:nvPr/>
        </p:nvSpPr>
        <p:spPr>
          <a:xfrm>
            <a:off x="999042" y="4311145"/>
            <a:ext cx="101597" cy="101597"/>
          </a:xfrm>
          <a:prstGeom prst="ellipse">
            <a:avLst/>
          </a:prstGeom>
          <a:solidFill>
            <a:srgbClr val="00FFFF"/>
          </a:solidFill>
          <a:ln/>
        </p:spPr>
        <p:txBody>
          <a:bodyPr/>
          <a:lstStyle/>
          <a:p>
            <a:endParaRPr lang="en-IN"/>
          </a:p>
        </p:txBody>
      </p:sp>
      <p:sp>
        <p:nvSpPr>
          <p:cNvPr id="23" name="Shape 16"/>
          <p:cNvSpPr/>
          <p:nvPr/>
        </p:nvSpPr>
        <p:spPr>
          <a:xfrm>
            <a:off x="999042" y="5015978"/>
            <a:ext cx="101597" cy="101597"/>
          </a:xfrm>
          <a:prstGeom prst="ellipse">
            <a:avLst/>
          </a:prstGeom>
          <a:solidFill>
            <a:srgbClr val="00FFFF"/>
          </a:solidFill>
          <a:ln/>
        </p:spPr>
        <p:txBody>
          <a:bodyPr/>
          <a:lstStyle/>
          <a:p>
            <a:endParaRPr lang="en-IN"/>
          </a:p>
        </p:txBody>
      </p:sp>
      <p:sp>
        <p:nvSpPr>
          <p:cNvPr id="24" name="Shape 17"/>
          <p:cNvSpPr/>
          <p:nvPr/>
        </p:nvSpPr>
        <p:spPr>
          <a:xfrm>
            <a:off x="6256710" y="1784571"/>
            <a:ext cx="5164537" cy="76197"/>
          </a:xfrm>
          <a:prstGeom prst="rect">
            <a:avLst/>
          </a:prstGeom>
          <a:solidFill>
            <a:srgbClr val="8B5CF6"/>
          </a:solidFill>
          <a:ln/>
        </p:spPr>
        <p:txBody>
          <a:bodyPr/>
          <a:lstStyle/>
          <a:p>
            <a:endParaRPr lang="en-IN"/>
          </a:p>
        </p:txBody>
      </p:sp>
      <p:sp>
        <p:nvSpPr>
          <p:cNvPr id="25" name="Shape 18"/>
          <p:cNvSpPr/>
          <p:nvPr/>
        </p:nvSpPr>
        <p:spPr>
          <a:xfrm>
            <a:off x="6485305" y="3606313"/>
            <a:ext cx="101597" cy="101597"/>
          </a:xfrm>
          <a:prstGeom prst="ellipse">
            <a:avLst/>
          </a:prstGeom>
          <a:solidFill>
            <a:srgbClr val="8B5CF6"/>
          </a:solidFill>
          <a:ln/>
        </p:spPr>
        <p:txBody>
          <a:bodyPr/>
          <a:lstStyle/>
          <a:p>
            <a:endParaRPr lang="en-IN"/>
          </a:p>
        </p:txBody>
      </p:sp>
      <p:sp>
        <p:nvSpPr>
          <p:cNvPr id="26" name="Shape 19"/>
          <p:cNvSpPr/>
          <p:nvPr/>
        </p:nvSpPr>
        <p:spPr>
          <a:xfrm>
            <a:off x="6485305" y="4311145"/>
            <a:ext cx="101597" cy="101597"/>
          </a:xfrm>
          <a:prstGeom prst="ellipse">
            <a:avLst/>
          </a:prstGeom>
          <a:solidFill>
            <a:srgbClr val="8B5CF6"/>
          </a:solidFill>
          <a:ln/>
        </p:spPr>
        <p:txBody>
          <a:bodyPr/>
          <a:lstStyle/>
          <a:p>
            <a:endParaRPr lang="en-IN"/>
          </a:p>
        </p:txBody>
      </p:sp>
      <p:sp>
        <p:nvSpPr>
          <p:cNvPr id="27" name="Shape 20"/>
          <p:cNvSpPr/>
          <p:nvPr/>
        </p:nvSpPr>
        <p:spPr>
          <a:xfrm>
            <a:off x="6485305" y="5015978"/>
            <a:ext cx="101597" cy="101597"/>
          </a:xfrm>
          <a:prstGeom prst="ellipse">
            <a:avLst/>
          </a:prstGeom>
          <a:solidFill>
            <a:srgbClr val="8B5CF6"/>
          </a:solidFill>
          <a:ln/>
        </p:spPr>
        <p:txBody>
          <a:bodyPr/>
          <a:lstStyle/>
          <a:p>
            <a:endParaRPr lang="en-IN"/>
          </a:p>
        </p:txBody>
      </p:sp>
      <p:sp>
        <p:nvSpPr>
          <p:cNvPr id="28" name="Text 21"/>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sp>
        <p:nvSpPr>
          <p:cNvPr id="3" name="Shape 0"/>
          <p:cNvSpPr/>
          <p:nvPr/>
        </p:nvSpPr>
        <p:spPr>
          <a:xfrm>
            <a:off x="761981" y="1777956"/>
            <a:ext cx="10667733" cy="1375005"/>
          </a:xfrm>
          <a:prstGeom prst="roundRect">
            <a:avLst>
              <a:gd name="adj" fmla="val 16625"/>
            </a:avLst>
          </a:prstGeom>
          <a:solidFill>
            <a:srgbClr val="000000">
              <a:alpha val="0"/>
            </a:srgbClr>
          </a:solidFill>
          <a:ln w="8467">
            <a:solidFill>
              <a:srgbClr val="00FFFF">
                <a:alpha val="18000"/>
              </a:srgbClr>
            </a:solidFill>
            <a:prstDash val="solid"/>
          </a:ln>
        </p:spPr>
        <p:txBody>
          <a:bodyPr/>
          <a:lstStyle/>
          <a:p>
            <a:endParaRPr lang="en-IN"/>
          </a:p>
        </p:txBody>
      </p:sp>
      <p:sp>
        <p:nvSpPr>
          <p:cNvPr id="4" name="Shape 1"/>
          <p:cNvSpPr/>
          <p:nvPr/>
        </p:nvSpPr>
        <p:spPr>
          <a:xfrm>
            <a:off x="761981" y="3247811"/>
            <a:ext cx="10667733" cy="1375005"/>
          </a:xfrm>
          <a:prstGeom prst="roundRect">
            <a:avLst>
              <a:gd name="adj" fmla="val 16625"/>
            </a:avLst>
          </a:prstGeom>
          <a:solidFill>
            <a:srgbClr val="000000">
              <a:alpha val="0"/>
            </a:srgbClr>
          </a:solidFill>
          <a:ln w="8467">
            <a:solidFill>
              <a:srgbClr val="00FFFF">
                <a:alpha val="18000"/>
              </a:srgbClr>
            </a:solidFill>
            <a:prstDash val="solid"/>
          </a:ln>
        </p:spPr>
        <p:txBody>
          <a:bodyPr/>
          <a:lstStyle/>
          <a:p>
            <a:endParaRPr lang="en-IN"/>
          </a:p>
        </p:txBody>
      </p:sp>
      <p:sp>
        <p:nvSpPr>
          <p:cNvPr id="5" name="Shape 2"/>
          <p:cNvSpPr/>
          <p:nvPr/>
        </p:nvSpPr>
        <p:spPr>
          <a:xfrm>
            <a:off x="761981" y="4717667"/>
            <a:ext cx="10667733" cy="1375006"/>
          </a:xfrm>
          <a:prstGeom prst="roundRect">
            <a:avLst>
              <a:gd name="adj" fmla="val 16625"/>
            </a:avLst>
          </a:prstGeom>
          <a:solidFill>
            <a:srgbClr val="000000">
              <a:alpha val="0"/>
            </a:srgbClr>
          </a:solidFill>
          <a:ln w="8467">
            <a:solidFill>
              <a:srgbClr val="00FFFF">
                <a:alpha val="18000"/>
              </a:srgbClr>
            </a:solidFill>
            <a:prstDash val="solid"/>
          </a:ln>
        </p:spPr>
        <p:txBody>
          <a:bodyPr/>
          <a:lstStyle/>
          <a:p>
            <a:endParaRPr lang="en-IN"/>
          </a:p>
        </p:txBody>
      </p:sp>
      <p:pic>
        <p:nvPicPr>
          <p:cNvPr id="6" name="Image 1" descr="preencoded.png"/>
          <p:cNvPicPr>
            <a:picLocks noChangeAspect="1"/>
          </p:cNvPicPr>
          <p:nvPr/>
        </p:nvPicPr>
        <p:blipFill>
          <a:blip r:embed="rId4"/>
          <a:stretch>
            <a:fillRect/>
          </a:stretch>
        </p:blipFill>
        <p:spPr>
          <a:xfrm>
            <a:off x="761981" y="1650959"/>
            <a:ext cx="380990" cy="380990"/>
          </a:xfrm>
          <a:prstGeom prst="rect">
            <a:avLst/>
          </a:prstGeom>
        </p:spPr>
      </p:pic>
      <p:sp>
        <p:nvSpPr>
          <p:cNvPr id="7" name="Text 3"/>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10000"/>
              </a:lnSpc>
              <a:buNone/>
            </a:pPr>
            <a:r>
              <a:rPr lang="en-US" sz="2900" b="1" dirty="0">
                <a:solidFill>
                  <a:srgbClr val="00FFFF"/>
                </a:solidFill>
                <a:latin typeface="Trebuchet MS" pitchFamily="34" charset="0"/>
                <a:ea typeface="Trebuchet MS" pitchFamily="34" charset="-122"/>
                <a:cs typeface="Trebuchet MS" pitchFamily="34" charset="-120"/>
              </a:rPr>
              <a:t>Proposed System
</a:t>
            </a:r>
            <a:endParaRPr lang="en-US" sz="2900" dirty="0"/>
          </a:p>
        </p:txBody>
      </p:sp>
      <p:sp>
        <p:nvSpPr>
          <p:cNvPr id="8" name="Text 4"/>
          <p:cNvSpPr/>
          <p:nvPr/>
        </p:nvSpPr>
        <p:spPr>
          <a:xfrm>
            <a:off x="3640311" y="2290176"/>
            <a:ext cx="7598379" cy="158218"/>
          </a:xfrm>
          <a:prstGeom prst="rect">
            <a:avLst/>
          </a:prstGeom>
          <a:noFill/>
          <a:ln/>
        </p:spPr>
        <p:txBody>
          <a:bodyPr wrap="square" lIns="1016" tIns="1016" rIns="1016" bIns="1016" rtlCol="0" anchor="t"/>
          <a:lstStyle/>
          <a:p>
            <a:pPr marL="0" indent="0">
              <a:lnSpc>
                <a:spcPct val="124653"/>
              </a:lnSpc>
              <a:buNone/>
            </a:pPr>
            <a:r>
              <a:rPr lang="en-US" sz="900" b="1" dirty="0">
                <a:solidFill>
                  <a:srgbClr val="00FFFF"/>
                </a:solidFill>
                <a:latin typeface="Trebuchet MS" pitchFamily="34" charset="0"/>
                <a:ea typeface="Trebuchet MS" pitchFamily="34" charset="-122"/>
                <a:cs typeface="Trebuchet MS" pitchFamily="34" charset="-120"/>
              </a:rPr>
              <a:t>Advanced Search Algorithms
</a:t>
            </a:r>
            <a:endParaRPr lang="en-US" sz="900" dirty="0"/>
          </a:p>
        </p:txBody>
      </p:sp>
      <p:sp>
        <p:nvSpPr>
          <p:cNvPr id="9" name="Text 5"/>
          <p:cNvSpPr/>
          <p:nvPr/>
        </p:nvSpPr>
        <p:spPr>
          <a:xfrm>
            <a:off x="3640311" y="2480010"/>
            <a:ext cx="7598379" cy="160730"/>
          </a:xfrm>
          <a:prstGeom prst="rect">
            <a:avLst/>
          </a:prstGeom>
          <a:noFill/>
          <a:ln/>
        </p:spPr>
        <p:txBody>
          <a:bodyPr wrap="square" lIns="1016" tIns="1016" rIns="1016" bIns="1016" rtlCol="0" anchor="t"/>
          <a:lstStyle/>
          <a:p>
            <a:pPr marL="0" indent="0">
              <a:lnSpc>
                <a:spcPct val="140581"/>
              </a:lnSpc>
              <a:buNone/>
            </a:pPr>
            <a:r>
              <a:rPr lang="en-US" sz="800" dirty="0">
                <a:solidFill>
                  <a:srgbClr val="B8C5D6"/>
                </a:solidFill>
                <a:latin typeface="Trebuchet MS" pitchFamily="34" charset="0"/>
                <a:ea typeface="Trebuchet MS" pitchFamily="34" charset="-122"/>
                <a:cs typeface="Trebuchet MS" pitchFamily="34" charset="-120"/>
              </a:rPr>
              <a:t>The proposed system integrates advanced search algorithms, improving file retrieval speed by up to 50% for users.
</a:t>
            </a:r>
            <a:endParaRPr lang="en-US" sz="800" dirty="0"/>
          </a:p>
        </p:txBody>
      </p:sp>
      <p:sp>
        <p:nvSpPr>
          <p:cNvPr id="10" name="Text 6"/>
          <p:cNvSpPr/>
          <p:nvPr/>
        </p:nvSpPr>
        <p:spPr>
          <a:xfrm>
            <a:off x="3640311" y="3760033"/>
            <a:ext cx="7598379" cy="158218"/>
          </a:xfrm>
          <a:prstGeom prst="rect">
            <a:avLst/>
          </a:prstGeom>
          <a:noFill/>
          <a:ln/>
        </p:spPr>
        <p:txBody>
          <a:bodyPr wrap="square" lIns="1016" tIns="1016" rIns="1016" bIns="1016" rtlCol="0" anchor="t"/>
          <a:lstStyle/>
          <a:p>
            <a:pPr marL="0" indent="0">
              <a:lnSpc>
                <a:spcPct val="124653"/>
              </a:lnSpc>
              <a:buNone/>
            </a:pPr>
            <a:r>
              <a:rPr lang="en-US" sz="900" b="1" dirty="0">
                <a:solidFill>
                  <a:srgbClr val="00FFFF"/>
                </a:solidFill>
                <a:latin typeface="Trebuchet MS" pitchFamily="34" charset="0"/>
                <a:ea typeface="Trebuchet MS" pitchFamily="34" charset="-122"/>
                <a:cs typeface="Trebuchet MS" pitchFamily="34" charset="-120"/>
              </a:rPr>
              <a:t>Customizable Categorization
</a:t>
            </a:r>
            <a:endParaRPr lang="en-US" sz="900" dirty="0"/>
          </a:p>
        </p:txBody>
      </p:sp>
      <p:sp>
        <p:nvSpPr>
          <p:cNvPr id="11" name="Text 7"/>
          <p:cNvSpPr/>
          <p:nvPr/>
        </p:nvSpPr>
        <p:spPr>
          <a:xfrm>
            <a:off x="3640311" y="3949866"/>
            <a:ext cx="7598379" cy="160730"/>
          </a:xfrm>
          <a:prstGeom prst="rect">
            <a:avLst/>
          </a:prstGeom>
          <a:noFill/>
          <a:ln/>
        </p:spPr>
        <p:txBody>
          <a:bodyPr wrap="square" lIns="1016" tIns="1016" rIns="1016" bIns="1016" rtlCol="0" anchor="t"/>
          <a:lstStyle/>
          <a:p>
            <a:pPr marL="0" indent="0">
              <a:lnSpc>
                <a:spcPct val="140581"/>
              </a:lnSpc>
              <a:buNone/>
            </a:pPr>
            <a:r>
              <a:rPr lang="en-US" sz="800" dirty="0">
                <a:solidFill>
                  <a:srgbClr val="B8C5D6"/>
                </a:solidFill>
                <a:latin typeface="Trebuchet MS" pitchFamily="34" charset="0"/>
                <a:ea typeface="Trebuchet MS" pitchFamily="34" charset="-122"/>
                <a:cs typeface="Trebuchet MS" pitchFamily="34" charset="-120"/>
              </a:rPr>
              <a:t>Users can create customizable categorization options, enhancing organization and accessibility of files tailored to individual needs.
</a:t>
            </a:r>
            <a:endParaRPr lang="en-US" sz="800" dirty="0"/>
          </a:p>
        </p:txBody>
      </p:sp>
      <p:sp>
        <p:nvSpPr>
          <p:cNvPr id="12" name="Text 8"/>
          <p:cNvSpPr/>
          <p:nvPr/>
        </p:nvSpPr>
        <p:spPr>
          <a:xfrm>
            <a:off x="3640311" y="5229889"/>
            <a:ext cx="7598379" cy="158216"/>
          </a:xfrm>
          <a:prstGeom prst="rect">
            <a:avLst/>
          </a:prstGeom>
          <a:noFill/>
          <a:ln/>
        </p:spPr>
        <p:txBody>
          <a:bodyPr wrap="square" lIns="1016" tIns="1016" rIns="1016" bIns="1016" rtlCol="0" anchor="t"/>
          <a:lstStyle/>
          <a:p>
            <a:pPr marL="0" indent="0">
              <a:lnSpc>
                <a:spcPct val="124653"/>
              </a:lnSpc>
              <a:buNone/>
            </a:pPr>
            <a:r>
              <a:rPr lang="en-US" sz="900" b="1" dirty="0">
                <a:solidFill>
                  <a:srgbClr val="00FFFF"/>
                </a:solidFill>
                <a:latin typeface="Trebuchet MS" pitchFamily="34" charset="0"/>
                <a:ea typeface="Trebuchet MS" pitchFamily="34" charset="-122"/>
                <a:cs typeface="Trebuchet MS" pitchFamily="34" charset="-120"/>
              </a:rPr>
              <a:t>User-Friendly Interface
</a:t>
            </a:r>
            <a:endParaRPr lang="en-US" sz="900" dirty="0"/>
          </a:p>
        </p:txBody>
      </p:sp>
      <p:sp>
        <p:nvSpPr>
          <p:cNvPr id="13" name="Text 9"/>
          <p:cNvSpPr/>
          <p:nvPr/>
        </p:nvSpPr>
        <p:spPr>
          <a:xfrm>
            <a:off x="3640311" y="5419722"/>
            <a:ext cx="7598379" cy="160730"/>
          </a:xfrm>
          <a:prstGeom prst="rect">
            <a:avLst/>
          </a:prstGeom>
          <a:noFill/>
          <a:ln/>
        </p:spPr>
        <p:txBody>
          <a:bodyPr wrap="square" lIns="1016" tIns="1016" rIns="1016" bIns="1016" rtlCol="0" anchor="t"/>
          <a:lstStyle/>
          <a:p>
            <a:pPr marL="0" indent="0">
              <a:lnSpc>
                <a:spcPct val="140581"/>
              </a:lnSpc>
              <a:buNone/>
            </a:pPr>
            <a:r>
              <a:rPr lang="en-US" sz="800" dirty="0">
                <a:solidFill>
                  <a:srgbClr val="B8C5D6"/>
                </a:solidFill>
                <a:latin typeface="Trebuchet MS" pitchFamily="34" charset="0"/>
                <a:ea typeface="Trebuchet MS" pitchFamily="34" charset="-122"/>
                <a:cs typeface="Trebuchet MS" pitchFamily="34" charset="-120"/>
              </a:rPr>
              <a:t>A user-friendly interface facilitates easy access to files, reducing the time spent searching for documents by 40%.
</a:t>
            </a:r>
            <a:endParaRPr lang="en-US" sz="800" dirty="0"/>
          </a:p>
        </p:txBody>
      </p:sp>
      <p:sp>
        <p:nvSpPr>
          <p:cNvPr id="14" name="Shape 10"/>
          <p:cNvSpPr/>
          <p:nvPr/>
        </p:nvSpPr>
        <p:spPr>
          <a:xfrm>
            <a:off x="3157062" y="2299039"/>
            <a:ext cx="316566" cy="205709"/>
          </a:xfrm>
          <a:prstGeom prst="roundRect">
            <a:avLst>
              <a:gd name="adj" fmla="val 25000"/>
            </a:avLst>
          </a:prstGeom>
          <a:solidFill>
            <a:srgbClr val="00FFFF">
              <a:alpha val="10000"/>
            </a:srgbClr>
          </a:solidFill>
          <a:ln/>
        </p:spPr>
        <p:txBody>
          <a:bodyPr/>
          <a:lstStyle/>
          <a:p>
            <a:endParaRPr lang="en-IN"/>
          </a:p>
        </p:txBody>
      </p:sp>
      <p:sp>
        <p:nvSpPr>
          <p:cNvPr id="15" name="Text 11"/>
          <p:cNvSpPr/>
          <p:nvPr/>
        </p:nvSpPr>
        <p:spPr>
          <a:xfrm>
            <a:off x="3157062" y="2299039"/>
            <a:ext cx="316566" cy="205709"/>
          </a:xfrm>
          <a:prstGeom prst="rect">
            <a:avLst/>
          </a:prstGeom>
          <a:noFill/>
          <a:ln/>
        </p:spPr>
        <p:txBody>
          <a:bodyPr wrap="square" lIns="0" tIns="0" rIns="0" bIns="0" rtlCol="0" anchor="t"/>
          <a:lstStyle/>
          <a:p>
            <a:pPr marL="0" indent="0" algn="ctr">
              <a:lnSpc>
                <a:spcPct val="288889"/>
              </a:lnSpc>
              <a:buNone/>
            </a:pPr>
            <a:r>
              <a:rPr lang="en-US" sz="800" b="1" dirty="0">
                <a:solidFill>
                  <a:srgbClr val="00FFFF"/>
                </a:solidFill>
                <a:latin typeface="Calibri" pitchFamily="34" charset="0"/>
                <a:ea typeface="Calibri" pitchFamily="34" charset="-122"/>
                <a:cs typeface="Calibri" pitchFamily="34" charset="-120"/>
              </a:rPr>
              <a:t>01
</a:t>
            </a:r>
            <a:endParaRPr lang="en-US" sz="800" dirty="0"/>
          </a:p>
        </p:txBody>
      </p:sp>
      <p:sp>
        <p:nvSpPr>
          <p:cNvPr id="16" name="Shape 12"/>
          <p:cNvSpPr/>
          <p:nvPr/>
        </p:nvSpPr>
        <p:spPr>
          <a:xfrm>
            <a:off x="3157062" y="3768896"/>
            <a:ext cx="316566" cy="205709"/>
          </a:xfrm>
          <a:prstGeom prst="roundRect">
            <a:avLst>
              <a:gd name="adj" fmla="val 25000"/>
            </a:avLst>
          </a:prstGeom>
          <a:solidFill>
            <a:srgbClr val="00FFFF">
              <a:alpha val="10000"/>
            </a:srgbClr>
          </a:solidFill>
          <a:ln/>
        </p:spPr>
        <p:txBody>
          <a:bodyPr/>
          <a:lstStyle/>
          <a:p>
            <a:endParaRPr lang="en-IN"/>
          </a:p>
        </p:txBody>
      </p:sp>
      <p:sp>
        <p:nvSpPr>
          <p:cNvPr id="17" name="Text 13"/>
          <p:cNvSpPr/>
          <p:nvPr/>
        </p:nvSpPr>
        <p:spPr>
          <a:xfrm>
            <a:off x="3157062" y="3768896"/>
            <a:ext cx="316566" cy="205709"/>
          </a:xfrm>
          <a:prstGeom prst="rect">
            <a:avLst/>
          </a:prstGeom>
          <a:noFill/>
          <a:ln/>
        </p:spPr>
        <p:txBody>
          <a:bodyPr wrap="square" lIns="0" tIns="0" rIns="0" bIns="0" rtlCol="0" anchor="t"/>
          <a:lstStyle/>
          <a:p>
            <a:pPr marL="0" indent="0" algn="ctr">
              <a:lnSpc>
                <a:spcPct val="288889"/>
              </a:lnSpc>
              <a:buNone/>
            </a:pPr>
            <a:r>
              <a:rPr lang="en-US" sz="800" b="1" dirty="0">
                <a:solidFill>
                  <a:srgbClr val="00FFFF"/>
                </a:solidFill>
                <a:latin typeface="Calibri" pitchFamily="34" charset="0"/>
                <a:ea typeface="Calibri" pitchFamily="34" charset="-122"/>
                <a:cs typeface="Calibri" pitchFamily="34" charset="-120"/>
              </a:rPr>
              <a:t>02
</a:t>
            </a:r>
            <a:endParaRPr lang="en-US" sz="800" dirty="0"/>
          </a:p>
        </p:txBody>
      </p:sp>
      <p:sp>
        <p:nvSpPr>
          <p:cNvPr id="18" name="Shape 14"/>
          <p:cNvSpPr/>
          <p:nvPr/>
        </p:nvSpPr>
        <p:spPr>
          <a:xfrm>
            <a:off x="3157062" y="5238752"/>
            <a:ext cx="316566" cy="205709"/>
          </a:xfrm>
          <a:prstGeom prst="roundRect">
            <a:avLst>
              <a:gd name="adj" fmla="val 25000"/>
            </a:avLst>
          </a:prstGeom>
          <a:solidFill>
            <a:srgbClr val="00FFFF">
              <a:alpha val="10000"/>
            </a:srgbClr>
          </a:solidFill>
          <a:ln/>
        </p:spPr>
        <p:txBody>
          <a:bodyPr/>
          <a:lstStyle/>
          <a:p>
            <a:endParaRPr lang="en-IN"/>
          </a:p>
        </p:txBody>
      </p:sp>
      <p:sp>
        <p:nvSpPr>
          <p:cNvPr id="19" name="Text 15"/>
          <p:cNvSpPr/>
          <p:nvPr/>
        </p:nvSpPr>
        <p:spPr>
          <a:xfrm>
            <a:off x="3157062" y="5238752"/>
            <a:ext cx="316566" cy="205709"/>
          </a:xfrm>
          <a:prstGeom prst="rect">
            <a:avLst/>
          </a:prstGeom>
          <a:noFill/>
          <a:ln/>
        </p:spPr>
        <p:txBody>
          <a:bodyPr wrap="square" lIns="0" tIns="0" rIns="0" bIns="0" rtlCol="0" anchor="t"/>
          <a:lstStyle/>
          <a:p>
            <a:pPr marL="0" indent="0" algn="ctr">
              <a:lnSpc>
                <a:spcPct val="288889"/>
              </a:lnSpc>
              <a:buNone/>
            </a:pPr>
            <a:r>
              <a:rPr lang="en-US" sz="800" b="1" dirty="0">
                <a:solidFill>
                  <a:srgbClr val="00FFFF"/>
                </a:solidFill>
                <a:latin typeface="Calibri" pitchFamily="34" charset="0"/>
                <a:ea typeface="Calibri" pitchFamily="34" charset="-122"/>
                <a:cs typeface="Calibri" pitchFamily="34" charset="-120"/>
              </a:rPr>
              <a:t>03
</a:t>
            </a:r>
            <a:endParaRPr lang="en-US" sz="800" dirty="0"/>
          </a:p>
        </p:txBody>
      </p:sp>
      <p:pic>
        <p:nvPicPr>
          <p:cNvPr id="20" name="Image 2" descr="preencoded.png"/>
          <p:cNvPicPr>
            <a:picLocks noChangeAspect="1"/>
          </p:cNvPicPr>
          <p:nvPr/>
        </p:nvPicPr>
        <p:blipFill>
          <a:blip r:embed="rId5"/>
          <a:srcRect/>
          <a:stretch/>
        </p:blipFill>
        <p:spPr>
          <a:xfrm>
            <a:off x="865298" y="1881273"/>
            <a:ext cx="2133546" cy="1168371"/>
          </a:xfrm>
          <a:prstGeom prst="rect">
            <a:avLst/>
          </a:prstGeom>
        </p:spPr>
      </p:pic>
      <p:pic>
        <p:nvPicPr>
          <p:cNvPr id="21" name="Image 3" descr="preencoded.png"/>
          <p:cNvPicPr>
            <a:picLocks noChangeAspect="1"/>
          </p:cNvPicPr>
          <p:nvPr/>
        </p:nvPicPr>
        <p:blipFill>
          <a:blip r:embed="rId6"/>
          <a:srcRect/>
          <a:stretch/>
        </p:blipFill>
        <p:spPr>
          <a:xfrm>
            <a:off x="865298" y="3351130"/>
            <a:ext cx="2133546" cy="1168371"/>
          </a:xfrm>
          <a:prstGeom prst="rect">
            <a:avLst/>
          </a:prstGeom>
        </p:spPr>
      </p:pic>
      <p:pic>
        <p:nvPicPr>
          <p:cNvPr id="22" name="Image 4" descr="preencoded.png"/>
          <p:cNvPicPr>
            <a:picLocks noChangeAspect="1"/>
          </p:cNvPicPr>
          <p:nvPr/>
        </p:nvPicPr>
        <p:blipFill>
          <a:blip r:embed="rId7"/>
          <a:srcRect/>
          <a:stretch/>
        </p:blipFill>
        <p:spPr>
          <a:xfrm>
            <a:off x="865298" y="4820986"/>
            <a:ext cx="2133546" cy="1168371"/>
          </a:xfrm>
          <a:prstGeom prst="rect">
            <a:avLst/>
          </a:prstGeom>
        </p:spPr>
      </p:pic>
      <p:sp>
        <p:nvSpPr>
          <p:cNvPr id="23" name="Text 16"/>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pic>
        <p:nvPicPr>
          <p:cNvPr id="3" name="Image 1" descr="preencoded.png"/>
          <p:cNvPicPr>
            <a:picLocks noChangeAspect="1"/>
          </p:cNvPicPr>
          <p:nvPr/>
        </p:nvPicPr>
        <p:blipFill>
          <a:blip r:embed="rId4"/>
          <a:stretch>
            <a:fillRect/>
          </a:stretch>
        </p:blipFill>
        <p:spPr>
          <a:xfrm>
            <a:off x="761981" y="1650959"/>
            <a:ext cx="380990" cy="380990"/>
          </a:xfrm>
          <a:prstGeom prst="rect">
            <a:avLst/>
          </a:prstGeom>
        </p:spPr>
      </p:pic>
      <p:sp>
        <p:nvSpPr>
          <p:cNvPr id="4" name="Text 0"/>
          <p:cNvSpPr/>
          <p:nvPr/>
        </p:nvSpPr>
        <p:spPr>
          <a:xfrm>
            <a:off x="601118" y="2122037"/>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Robust Database Requirement
</a:t>
            </a:r>
            <a:endParaRPr lang="en-US" sz="1400" dirty="0"/>
          </a:p>
        </p:txBody>
      </p:sp>
      <p:sp>
        <p:nvSpPr>
          <p:cNvPr id="5" name="Text 1"/>
          <p:cNvSpPr/>
          <p:nvPr/>
        </p:nvSpPr>
        <p:spPr>
          <a:xfrm>
            <a:off x="601118" y="2426829"/>
            <a:ext cx="3553795" cy="773093"/>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The system requires a robust database capable of handling large file storage efficiently and securely.
</a:t>
            </a:r>
            <a:endParaRPr lang="en-US" sz="1300" dirty="0"/>
          </a:p>
        </p:txBody>
      </p:sp>
      <p:sp>
        <p:nvSpPr>
          <p:cNvPr id="6" name="Text 2"/>
          <p:cNvSpPr/>
          <p:nvPr/>
        </p:nvSpPr>
        <p:spPr>
          <a:xfrm>
            <a:off x="4772964" y="2122037"/>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Intuitive User Interface
</a:t>
            </a:r>
            <a:endParaRPr lang="en-US" sz="1400" dirty="0"/>
          </a:p>
        </p:txBody>
      </p:sp>
      <p:sp>
        <p:nvSpPr>
          <p:cNvPr id="7" name="Text 3"/>
          <p:cNvSpPr/>
          <p:nvPr/>
        </p:nvSpPr>
        <p:spPr>
          <a:xfrm>
            <a:off x="4772964" y="2426829"/>
            <a:ext cx="3553795" cy="1030790"/>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User interface must be intuitive and responsive, ensuring a seamless experience across various devices and screen sizes.
</a:t>
            </a:r>
            <a:endParaRPr lang="en-US" sz="1300" dirty="0"/>
          </a:p>
        </p:txBody>
      </p:sp>
      <p:sp>
        <p:nvSpPr>
          <p:cNvPr id="8" name="Text 4"/>
          <p:cNvSpPr/>
          <p:nvPr/>
        </p:nvSpPr>
        <p:spPr>
          <a:xfrm>
            <a:off x="601118" y="4278869"/>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Advanced Search Functionality
</a:t>
            </a:r>
            <a:endParaRPr lang="en-US" sz="1400" dirty="0"/>
          </a:p>
        </p:txBody>
      </p:sp>
      <p:sp>
        <p:nvSpPr>
          <p:cNvPr id="9" name="Text 5"/>
          <p:cNvSpPr/>
          <p:nvPr/>
        </p:nvSpPr>
        <p:spPr>
          <a:xfrm>
            <a:off x="601118" y="4583661"/>
            <a:ext cx="3553795" cy="773093"/>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Search functionality should support multiple query types, allowing users to find files quickly and accurately.
</a:t>
            </a:r>
            <a:endParaRPr lang="en-US" sz="1300" dirty="0"/>
          </a:p>
        </p:txBody>
      </p:sp>
      <p:sp>
        <p:nvSpPr>
          <p:cNvPr id="10" name="Text 6"/>
          <p:cNvSpPr/>
          <p:nvPr/>
        </p:nvSpPr>
        <p:spPr>
          <a:xfrm>
            <a:off x="4772964" y="4278869"/>
            <a:ext cx="3553795" cy="253994"/>
          </a:xfrm>
          <a:prstGeom prst="rect">
            <a:avLst/>
          </a:prstGeom>
          <a:noFill/>
          <a:ln/>
        </p:spPr>
        <p:txBody>
          <a:bodyPr wrap="square" lIns="1016" tIns="1016" rIns="1016" bIns="1016" rtlCol="0" anchor="t"/>
          <a:lstStyle/>
          <a:p>
            <a:pPr marL="0" indent="0">
              <a:lnSpc>
                <a:spcPct val="125000"/>
              </a:lnSpc>
              <a:buNone/>
            </a:pPr>
            <a:r>
              <a:rPr lang="en-US" sz="1400" b="1" dirty="0">
                <a:solidFill>
                  <a:srgbClr val="00FFFF"/>
                </a:solidFill>
                <a:latin typeface="Trebuchet MS" pitchFamily="34" charset="0"/>
                <a:ea typeface="Trebuchet MS" pitchFamily="34" charset="-122"/>
                <a:cs typeface="Trebuchet MS" pitchFamily="34" charset="-120"/>
              </a:rPr>
              <a:t>Scalability Considerations
</a:t>
            </a:r>
            <a:endParaRPr lang="en-US" sz="1400" dirty="0"/>
          </a:p>
        </p:txBody>
      </p:sp>
      <p:sp>
        <p:nvSpPr>
          <p:cNvPr id="11" name="Text 7"/>
          <p:cNvSpPr/>
          <p:nvPr/>
        </p:nvSpPr>
        <p:spPr>
          <a:xfrm>
            <a:off x="4772964" y="4583661"/>
            <a:ext cx="3553795" cy="1030790"/>
          </a:xfrm>
          <a:prstGeom prst="rect">
            <a:avLst/>
          </a:prstGeom>
          <a:noFill/>
          <a:ln/>
        </p:spPr>
        <p:txBody>
          <a:bodyPr wrap="square" lIns="1016" tIns="1016" rIns="1016" bIns="1016" rtlCol="0" anchor="t"/>
          <a:lstStyle/>
          <a:p>
            <a:pPr marL="0" indent="0">
              <a:lnSpc>
                <a:spcPct val="145000"/>
              </a:lnSpc>
              <a:buNone/>
            </a:pPr>
            <a:r>
              <a:rPr lang="en-US" sz="1300" dirty="0">
                <a:solidFill>
                  <a:srgbClr val="B8C5D6"/>
                </a:solidFill>
                <a:latin typeface="Trebuchet MS" pitchFamily="34" charset="0"/>
                <a:ea typeface="Trebuchet MS" pitchFamily="34" charset="-122"/>
                <a:cs typeface="Trebuchet MS" pitchFamily="34" charset="-120"/>
              </a:rPr>
              <a:t>The system must be scalable to accommodate future growth in file volume and user base without performance degradation.
</a:t>
            </a:r>
            <a:endParaRPr lang="en-US" sz="1300" dirty="0"/>
          </a:p>
        </p:txBody>
      </p:sp>
      <p:sp>
        <p:nvSpPr>
          <p:cNvPr id="12" name="Text 8"/>
          <p:cNvSpPr/>
          <p:nvPr/>
        </p:nvSpPr>
        <p:spPr>
          <a:xfrm>
            <a:off x="380990" y="1073917"/>
            <a:ext cx="8140497" cy="396204"/>
          </a:xfrm>
          <a:prstGeom prst="rect">
            <a:avLst/>
          </a:prstGeom>
          <a:noFill/>
          <a:ln/>
        </p:spPr>
        <p:txBody>
          <a:bodyPr wrap="square" lIns="1016" tIns="1016" rIns="1016" bIns="1016" rtlCol="0" anchor="t"/>
          <a:lstStyle/>
          <a:p>
            <a:pPr marL="0" indent="0">
              <a:lnSpc>
                <a:spcPct val="120000"/>
              </a:lnSpc>
              <a:buNone/>
            </a:pPr>
            <a:r>
              <a:rPr lang="en-US" sz="2300" b="1" dirty="0">
                <a:solidFill>
                  <a:srgbClr val="00FFFF"/>
                </a:solidFill>
                <a:latin typeface="Trebuchet MS" pitchFamily="34" charset="0"/>
                <a:ea typeface="Trebuchet MS" pitchFamily="34" charset="-122"/>
                <a:cs typeface="Trebuchet MS" pitchFamily="34" charset="-120"/>
              </a:rPr>
              <a:t>Robust Database Requirement
</a:t>
            </a:r>
            <a:endParaRPr lang="en-US" sz="2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652" y="1808780"/>
            <a:ext cx="228594" cy="228594"/>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64497" y="1808780"/>
            <a:ext cx="228594" cy="228594"/>
          </a:xfrm>
          <a:prstGeom prst="rect">
            <a:avLst/>
          </a:prstGeom>
        </p:spPr>
      </p:pic>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2652" y="3965607"/>
            <a:ext cx="228594" cy="228594"/>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64497" y="3965607"/>
            <a:ext cx="228594" cy="228594"/>
          </a:xfrm>
          <a:prstGeom prst="rect">
            <a:avLst/>
          </a:prstGeom>
        </p:spPr>
      </p:pic>
      <p:pic>
        <p:nvPicPr>
          <p:cNvPr id="17" name="Image 6" descr="preencoded.png"/>
          <p:cNvPicPr>
            <a:picLocks noChangeAspect="1"/>
          </p:cNvPicPr>
          <p:nvPr/>
        </p:nvPicPr>
        <p:blipFill>
          <a:blip r:embed="rId9"/>
          <a:srcRect/>
          <a:stretch/>
        </p:blipFill>
        <p:spPr>
          <a:xfrm>
            <a:off x="8775481" y="0"/>
            <a:ext cx="3370494" cy="6812280"/>
          </a:xfrm>
          <a:prstGeom prst="rect">
            <a:avLst/>
          </a:prstGeom>
        </p:spPr>
      </p:pic>
      <p:sp>
        <p:nvSpPr>
          <p:cNvPr id="18" name="Text 9"/>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ide_neon_cyber_infographic_poster_on_a_dark_nav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futuristic_neon_cyberpunk_infographic_poster_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ide_dark_tech_themed_presentation_slide_no_peop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ide_neon_cyberpunk_style_infographic_slide_ima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widescreen_neon_cyberpunk_style_infographic_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ide_neon_cyberpunk_style_infographic_terminal_po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89778" y="3809905"/>
            <a:ext cx="3256197" cy="3002375"/>
          </a:xfrm>
          <a:prstGeom prst="rect">
            <a:avLst/>
          </a:prstGeom>
        </p:spPr>
      </p:pic>
      <p:sp>
        <p:nvSpPr>
          <p:cNvPr id="3" name="Shape 0"/>
          <p:cNvSpPr/>
          <p:nvPr/>
        </p:nvSpPr>
        <p:spPr>
          <a:xfrm>
            <a:off x="761981" y="1777957"/>
            <a:ext cx="10667733" cy="1375003"/>
          </a:xfrm>
          <a:prstGeom prst="roundRect">
            <a:avLst>
              <a:gd name="adj" fmla="val 16625"/>
            </a:avLst>
          </a:prstGeom>
          <a:solidFill>
            <a:srgbClr val="000000">
              <a:alpha val="0"/>
            </a:srgbClr>
          </a:solidFill>
          <a:ln w="8467">
            <a:solidFill>
              <a:srgbClr val="00FFFF">
                <a:alpha val="18000"/>
              </a:srgbClr>
            </a:solidFill>
            <a:prstDash val="solid"/>
          </a:ln>
        </p:spPr>
        <p:txBody>
          <a:bodyPr/>
          <a:lstStyle/>
          <a:p>
            <a:endParaRPr lang="en-IN"/>
          </a:p>
        </p:txBody>
      </p:sp>
      <p:sp>
        <p:nvSpPr>
          <p:cNvPr id="4" name="Shape 1"/>
          <p:cNvSpPr/>
          <p:nvPr/>
        </p:nvSpPr>
        <p:spPr>
          <a:xfrm>
            <a:off x="761981" y="3247811"/>
            <a:ext cx="10667733" cy="1375010"/>
          </a:xfrm>
          <a:prstGeom prst="roundRect">
            <a:avLst>
              <a:gd name="adj" fmla="val 16625"/>
            </a:avLst>
          </a:prstGeom>
          <a:solidFill>
            <a:srgbClr val="000000">
              <a:alpha val="0"/>
            </a:srgbClr>
          </a:solidFill>
          <a:ln w="8467">
            <a:solidFill>
              <a:srgbClr val="00FFFF">
                <a:alpha val="18000"/>
              </a:srgbClr>
            </a:solidFill>
            <a:prstDash val="solid"/>
          </a:ln>
        </p:spPr>
        <p:txBody>
          <a:bodyPr/>
          <a:lstStyle/>
          <a:p>
            <a:endParaRPr lang="en-IN"/>
          </a:p>
        </p:txBody>
      </p:sp>
      <p:sp>
        <p:nvSpPr>
          <p:cNvPr id="5" name="Shape 2"/>
          <p:cNvSpPr/>
          <p:nvPr/>
        </p:nvSpPr>
        <p:spPr>
          <a:xfrm>
            <a:off x="761981" y="4717670"/>
            <a:ext cx="10667733" cy="1375003"/>
          </a:xfrm>
          <a:prstGeom prst="roundRect">
            <a:avLst>
              <a:gd name="adj" fmla="val 16625"/>
            </a:avLst>
          </a:prstGeom>
          <a:solidFill>
            <a:srgbClr val="000000">
              <a:alpha val="0"/>
            </a:srgbClr>
          </a:solidFill>
          <a:ln w="8467">
            <a:solidFill>
              <a:srgbClr val="00FFFF">
                <a:alpha val="18000"/>
              </a:srgbClr>
            </a:solidFill>
            <a:prstDash val="solid"/>
          </a:ln>
        </p:spPr>
        <p:txBody>
          <a:bodyPr/>
          <a:lstStyle/>
          <a:p>
            <a:endParaRPr lang="en-IN"/>
          </a:p>
        </p:txBody>
      </p:sp>
      <p:pic>
        <p:nvPicPr>
          <p:cNvPr id="6" name="Image 1" descr="preencoded.png"/>
          <p:cNvPicPr>
            <a:picLocks noChangeAspect="1"/>
          </p:cNvPicPr>
          <p:nvPr/>
        </p:nvPicPr>
        <p:blipFill>
          <a:blip r:embed="rId4"/>
          <a:stretch>
            <a:fillRect/>
          </a:stretch>
        </p:blipFill>
        <p:spPr>
          <a:xfrm>
            <a:off x="761981" y="1650959"/>
            <a:ext cx="380990" cy="380990"/>
          </a:xfrm>
          <a:prstGeom prst="rect">
            <a:avLst/>
          </a:prstGeom>
        </p:spPr>
      </p:pic>
      <p:sp>
        <p:nvSpPr>
          <p:cNvPr id="7" name="Text 3"/>
          <p:cNvSpPr/>
          <p:nvPr/>
        </p:nvSpPr>
        <p:spPr>
          <a:xfrm>
            <a:off x="1015975" y="634984"/>
            <a:ext cx="10159746" cy="1142971"/>
          </a:xfrm>
          <a:prstGeom prst="rect">
            <a:avLst/>
          </a:prstGeom>
          <a:noFill/>
          <a:ln/>
        </p:spPr>
        <p:txBody>
          <a:bodyPr wrap="square" lIns="1016" tIns="1016" rIns="1016" bIns="1016" rtlCol="0" anchor="t"/>
          <a:lstStyle/>
          <a:p>
            <a:pPr marL="0" indent="0" algn="l">
              <a:lnSpc>
                <a:spcPct val="110000"/>
              </a:lnSpc>
              <a:buNone/>
            </a:pPr>
            <a:r>
              <a:rPr lang="en-US" sz="2900" b="1" dirty="0">
                <a:solidFill>
                  <a:srgbClr val="00FFFF"/>
                </a:solidFill>
                <a:latin typeface="Trebuchet MS" pitchFamily="34" charset="0"/>
                <a:ea typeface="Trebuchet MS" pitchFamily="34" charset="-122"/>
                <a:cs typeface="Trebuchet MS" pitchFamily="34" charset="-120"/>
              </a:rPr>
              <a:t>Learning Outcomes
</a:t>
            </a:r>
            <a:endParaRPr lang="en-US" sz="2900" dirty="0"/>
          </a:p>
        </p:txBody>
      </p:sp>
      <p:sp>
        <p:nvSpPr>
          <p:cNvPr id="8" name="Text 4"/>
          <p:cNvSpPr/>
          <p:nvPr/>
        </p:nvSpPr>
        <p:spPr>
          <a:xfrm>
            <a:off x="3640311" y="2290174"/>
            <a:ext cx="7598379" cy="158222"/>
          </a:xfrm>
          <a:prstGeom prst="rect">
            <a:avLst/>
          </a:prstGeom>
          <a:noFill/>
          <a:ln/>
        </p:spPr>
        <p:txBody>
          <a:bodyPr wrap="square" lIns="1016" tIns="1016" rIns="1016" bIns="1016" rtlCol="0" anchor="t"/>
          <a:lstStyle/>
          <a:p>
            <a:pPr marL="0" indent="0">
              <a:lnSpc>
                <a:spcPct val="124653"/>
              </a:lnSpc>
              <a:buNone/>
            </a:pPr>
            <a:r>
              <a:rPr lang="en-US" sz="900" b="1" dirty="0">
                <a:solidFill>
                  <a:srgbClr val="00FFFF"/>
                </a:solidFill>
                <a:latin typeface="Trebuchet MS" pitchFamily="34" charset="0"/>
                <a:ea typeface="Trebuchet MS" pitchFamily="34" charset="-122"/>
                <a:cs typeface="Trebuchet MS" pitchFamily="34" charset="-120"/>
              </a:rPr>
              <a:t>User Needs Understanding
</a:t>
            </a:r>
            <a:endParaRPr lang="en-US" sz="900" dirty="0"/>
          </a:p>
        </p:txBody>
      </p:sp>
      <p:sp>
        <p:nvSpPr>
          <p:cNvPr id="9" name="Text 5"/>
          <p:cNvSpPr/>
          <p:nvPr/>
        </p:nvSpPr>
        <p:spPr>
          <a:xfrm>
            <a:off x="3640311" y="2480010"/>
            <a:ext cx="7598379" cy="160730"/>
          </a:xfrm>
          <a:prstGeom prst="rect">
            <a:avLst/>
          </a:prstGeom>
          <a:noFill/>
          <a:ln/>
        </p:spPr>
        <p:txBody>
          <a:bodyPr wrap="square" lIns="1016" tIns="1016" rIns="1016" bIns="1016" rtlCol="0" anchor="t"/>
          <a:lstStyle/>
          <a:p>
            <a:pPr marL="0" indent="0">
              <a:lnSpc>
                <a:spcPct val="140581"/>
              </a:lnSpc>
              <a:buNone/>
            </a:pPr>
            <a:r>
              <a:rPr lang="en-US" sz="800" dirty="0">
                <a:solidFill>
                  <a:srgbClr val="B8C5D6"/>
                </a:solidFill>
                <a:latin typeface="Trebuchet MS" pitchFamily="34" charset="0"/>
                <a:ea typeface="Trebuchet MS" pitchFamily="34" charset="-122"/>
                <a:cs typeface="Trebuchet MS" pitchFamily="34" charset="-120"/>
              </a:rPr>
              <a:t>Identifying user needs is essential for creating effective and relevant design solutions that truly address their challenges.
</a:t>
            </a:r>
            <a:endParaRPr lang="en-US" sz="800" dirty="0"/>
          </a:p>
        </p:txBody>
      </p:sp>
      <p:sp>
        <p:nvSpPr>
          <p:cNvPr id="10" name="Text 6"/>
          <p:cNvSpPr/>
          <p:nvPr/>
        </p:nvSpPr>
        <p:spPr>
          <a:xfrm>
            <a:off x="3640311" y="3760033"/>
            <a:ext cx="7598379" cy="158215"/>
          </a:xfrm>
          <a:prstGeom prst="rect">
            <a:avLst/>
          </a:prstGeom>
          <a:noFill/>
          <a:ln/>
        </p:spPr>
        <p:txBody>
          <a:bodyPr wrap="square" lIns="1016" tIns="1016" rIns="1016" bIns="1016" rtlCol="0" anchor="t"/>
          <a:lstStyle/>
          <a:p>
            <a:pPr marL="0" indent="0">
              <a:lnSpc>
                <a:spcPct val="124653"/>
              </a:lnSpc>
              <a:buNone/>
            </a:pPr>
            <a:r>
              <a:rPr lang="en-US" sz="900" b="1" dirty="0">
                <a:solidFill>
                  <a:srgbClr val="00FFFF"/>
                </a:solidFill>
                <a:latin typeface="Trebuchet MS" pitchFamily="34" charset="0"/>
                <a:ea typeface="Trebuchet MS" pitchFamily="34" charset="-122"/>
                <a:cs typeface="Trebuchet MS" pitchFamily="34" charset="-120"/>
              </a:rPr>
              <a:t>User-Friendly Interface
</a:t>
            </a:r>
            <a:endParaRPr lang="en-US" sz="900" dirty="0"/>
          </a:p>
        </p:txBody>
      </p:sp>
      <p:sp>
        <p:nvSpPr>
          <p:cNvPr id="11" name="Text 7"/>
          <p:cNvSpPr/>
          <p:nvPr/>
        </p:nvSpPr>
        <p:spPr>
          <a:xfrm>
            <a:off x="3640311" y="3949863"/>
            <a:ext cx="7598379" cy="160730"/>
          </a:xfrm>
          <a:prstGeom prst="rect">
            <a:avLst/>
          </a:prstGeom>
          <a:noFill/>
          <a:ln/>
        </p:spPr>
        <p:txBody>
          <a:bodyPr wrap="square" lIns="1016" tIns="1016" rIns="1016" bIns="1016" rtlCol="0" anchor="t"/>
          <a:lstStyle/>
          <a:p>
            <a:pPr marL="0" indent="0">
              <a:lnSpc>
                <a:spcPct val="140581"/>
              </a:lnSpc>
              <a:buNone/>
            </a:pPr>
            <a:r>
              <a:rPr lang="en-US" sz="800" dirty="0">
                <a:solidFill>
                  <a:srgbClr val="B8C5D6"/>
                </a:solidFill>
                <a:latin typeface="Trebuchet MS" pitchFamily="34" charset="0"/>
                <a:ea typeface="Trebuchet MS" pitchFamily="34" charset="-122"/>
                <a:cs typeface="Trebuchet MS" pitchFamily="34" charset="-120"/>
              </a:rPr>
              <a:t>A well-implemented user interface enhances usability, leading to increased user satisfaction and engagement with the system.
</a:t>
            </a:r>
            <a:endParaRPr lang="en-US" sz="800" dirty="0"/>
          </a:p>
        </p:txBody>
      </p:sp>
      <p:sp>
        <p:nvSpPr>
          <p:cNvPr id="12" name="Text 8"/>
          <p:cNvSpPr/>
          <p:nvPr/>
        </p:nvSpPr>
        <p:spPr>
          <a:xfrm>
            <a:off x="3640311" y="5229886"/>
            <a:ext cx="7598379" cy="158215"/>
          </a:xfrm>
          <a:prstGeom prst="rect">
            <a:avLst/>
          </a:prstGeom>
          <a:noFill/>
          <a:ln/>
        </p:spPr>
        <p:txBody>
          <a:bodyPr wrap="square" lIns="1016" tIns="1016" rIns="1016" bIns="1016" rtlCol="0" anchor="t"/>
          <a:lstStyle/>
          <a:p>
            <a:pPr marL="0" indent="0">
              <a:lnSpc>
                <a:spcPct val="124653"/>
              </a:lnSpc>
              <a:buNone/>
            </a:pPr>
            <a:r>
              <a:rPr lang="en-US" sz="900" b="1" dirty="0">
                <a:solidFill>
                  <a:srgbClr val="00FFFF"/>
                </a:solidFill>
                <a:latin typeface="Trebuchet MS" pitchFamily="34" charset="0"/>
                <a:ea typeface="Trebuchet MS" pitchFamily="34" charset="-122"/>
                <a:cs typeface="Trebuchet MS" pitchFamily="34" charset="-120"/>
              </a:rPr>
              <a:t>Iterative Testing Benefits
</a:t>
            </a:r>
            <a:endParaRPr lang="en-US" sz="900" dirty="0"/>
          </a:p>
        </p:txBody>
      </p:sp>
      <p:sp>
        <p:nvSpPr>
          <p:cNvPr id="13" name="Text 9"/>
          <p:cNvSpPr/>
          <p:nvPr/>
        </p:nvSpPr>
        <p:spPr>
          <a:xfrm>
            <a:off x="3640311" y="5419722"/>
            <a:ext cx="7598379" cy="160730"/>
          </a:xfrm>
          <a:prstGeom prst="rect">
            <a:avLst/>
          </a:prstGeom>
          <a:noFill/>
          <a:ln/>
        </p:spPr>
        <p:txBody>
          <a:bodyPr wrap="square" lIns="1016" tIns="1016" rIns="1016" bIns="1016" rtlCol="0" anchor="t"/>
          <a:lstStyle/>
          <a:p>
            <a:pPr marL="0" indent="0">
              <a:lnSpc>
                <a:spcPct val="140581"/>
              </a:lnSpc>
              <a:buNone/>
            </a:pPr>
            <a:r>
              <a:rPr lang="en-US" sz="800" dirty="0">
                <a:solidFill>
                  <a:srgbClr val="B8C5D6"/>
                </a:solidFill>
                <a:latin typeface="Trebuchet MS" pitchFamily="34" charset="0"/>
                <a:ea typeface="Trebuchet MS" pitchFamily="34" charset="-122"/>
                <a:cs typeface="Trebuchet MS" pitchFamily="34" charset="-120"/>
              </a:rPr>
              <a:t>Conducting iterative testing and gathering feedback significantly refines the product, ensuring it meets user expectations effectively.
</a:t>
            </a:r>
            <a:endParaRPr lang="en-US" sz="800" dirty="0"/>
          </a:p>
        </p:txBody>
      </p:sp>
      <p:sp>
        <p:nvSpPr>
          <p:cNvPr id="14" name="Shape 10"/>
          <p:cNvSpPr/>
          <p:nvPr/>
        </p:nvSpPr>
        <p:spPr>
          <a:xfrm>
            <a:off x="3157062" y="2299039"/>
            <a:ext cx="316566" cy="205711"/>
          </a:xfrm>
          <a:prstGeom prst="roundRect">
            <a:avLst>
              <a:gd name="adj" fmla="val 25000"/>
            </a:avLst>
          </a:prstGeom>
          <a:solidFill>
            <a:srgbClr val="00FFFF">
              <a:alpha val="10000"/>
            </a:srgbClr>
          </a:solidFill>
          <a:ln/>
        </p:spPr>
        <p:txBody>
          <a:bodyPr/>
          <a:lstStyle/>
          <a:p>
            <a:endParaRPr lang="en-IN"/>
          </a:p>
        </p:txBody>
      </p:sp>
      <p:sp>
        <p:nvSpPr>
          <p:cNvPr id="15" name="Text 11"/>
          <p:cNvSpPr/>
          <p:nvPr/>
        </p:nvSpPr>
        <p:spPr>
          <a:xfrm>
            <a:off x="3157062" y="2299039"/>
            <a:ext cx="316566" cy="205711"/>
          </a:xfrm>
          <a:prstGeom prst="rect">
            <a:avLst/>
          </a:prstGeom>
          <a:noFill/>
          <a:ln/>
        </p:spPr>
        <p:txBody>
          <a:bodyPr wrap="square" lIns="0" tIns="0" rIns="0" bIns="0" rtlCol="0" anchor="t"/>
          <a:lstStyle/>
          <a:p>
            <a:pPr marL="0" indent="0" algn="ctr">
              <a:lnSpc>
                <a:spcPct val="288889"/>
              </a:lnSpc>
              <a:buNone/>
            </a:pPr>
            <a:r>
              <a:rPr lang="en-US" sz="800" b="1" dirty="0">
                <a:solidFill>
                  <a:srgbClr val="00FFFF"/>
                </a:solidFill>
                <a:latin typeface="Calibri" pitchFamily="34" charset="0"/>
                <a:ea typeface="Calibri" pitchFamily="34" charset="-122"/>
                <a:cs typeface="Calibri" pitchFamily="34" charset="-120"/>
              </a:rPr>
              <a:t>01
</a:t>
            </a:r>
            <a:endParaRPr lang="en-US" sz="800" dirty="0"/>
          </a:p>
        </p:txBody>
      </p:sp>
      <p:sp>
        <p:nvSpPr>
          <p:cNvPr id="16" name="Shape 12"/>
          <p:cNvSpPr/>
          <p:nvPr/>
        </p:nvSpPr>
        <p:spPr>
          <a:xfrm>
            <a:off x="3157062" y="3768893"/>
            <a:ext cx="316566" cy="205711"/>
          </a:xfrm>
          <a:prstGeom prst="roundRect">
            <a:avLst>
              <a:gd name="adj" fmla="val 25000"/>
            </a:avLst>
          </a:prstGeom>
          <a:solidFill>
            <a:srgbClr val="00FFFF">
              <a:alpha val="10000"/>
            </a:srgbClr>
          </a:solidFill>
          <a:ln/>
        </p:spPr>
        <p:txBody>
          <a:bodyPr/>
          <a:lstStyle/>
          <a:p>
            <a:endParaRPr lang="en-IN"/>
          </a:p>
        </p:txBody>
      </p:sp>
      <p:sp>
        <p:nvSpPr>
          <p:cNvPr id="17" name="Text 13"/>
          <p:cNvSpPr/>
          <p:nvPr/>
        </p:nvSpPr>
        <p:spPr>
          <a:xfrm>
            <a:off x="3157062" y="3768893"/>
            <a:ext cx="316566" cy="205711"/>
          </a:xfrm>
          <a:prstGeom prst="rect">
            <a:avLst/>
          </a:prstGeom>
          <a:noFill/>
          <a:ln/>
        </p:spPr>
        <p:txBody>
          <a:bodyPr wrap="square" lIns="0" tIns="0" rIns="0" bIns="0" rtlCol="0" anchor="t"/>
          <a:lstStyle/>
          <a:p>
            <a:pPr marL="0" indent="0" algn="ctr">
              <a:lnSpc>
                <a:spcPct val="288889"/>
              </a:lnSpc>
              <a:buNone/>
            </a:pPr>
            <a:r>
              <a:rPr lang="en-US" sz="800" b="1" dirty="0">
                <a:solidFill>
                  <a:srgbClr val="00FFFF"/>
                </a:solidFill>
                <a:latin typeface="Calibri" pitchFamily="34" charset="0"/>
                <a:ea typeface="Calibri" pitchFamily="34" charset="-122"/>
                <a:cs typeface="Calibri" pitchFamily="34" charset="-120"/>
              </a:rPr>
              <a:t>02
</a:t>
            </a:r>
            <a:endParaRPr lang="en-US" sz="800" dirty="0"/>
          </a:p>
        </p:txBody>
      </p:sp>
      <p:sp>
        <p:nvSpPr>
          <p:cNvPr id="18" name="Shape 14"/>
          <p:cNvSpPr/>
          <p:nvPr/>
        </p:nvSpPr>
        <p:spPr>
          <a:xfrm>
            <a:off x="3157062" y="5238752"/>
            <a:ext cx="316566" cy="205704"/>
          </a:xfrm>
          <a:prstGeom prst="roundRect">
            <a:avLst>
              <a:gd name="adj" fmla="val 25000"/>
            </a:avLst>
          </a:prstGeom>
          <a:solidFill>
            <a:srgbClr val="00FFFF">
              <a:alpha val="10000"/>
            </a:srgbClr>
          </a:solidFill>
          <a:ln/>
        </p:spPr>
        <p:txBody>
          <a:bodyPr/>
          <a:lstStyle/>
          <a:p>
            <a:endParaRPr lang="en-IN"/>
          </a:p>
        </p:txBody>
      </p:sp>
      <p:sp>
        <p:nvSpPr>
          <p:cNvPr id="19" name="Text 15"/>
          <p:cNvSpPr/>
          <p:nvPr/>
        </p:nvSpPr>
        <p:spPr>
          <a:xfrm>
            <a:off x="3157062" y="5238752"/>
            <a:ext cx="316566" cy="205704"/>
          </a:xfrm>
          <a:prstGeom prst="rect">
            <a:avLst/>
          </a:prstGeom>
          <a:noFill/>
          <a:ln/>
        </p:spPr>
        <p:txBody>
          <a:bodyPr wrap="square" lIns="0" tIns="0" rIns="0" bIns="0" rtlCol="0" anchor="t"/>
          <a:lstStyle/>
          <a:p>
            <a:pPr marL="0" indent="0" algn="ctr">
              <a:lnSpc>
                <a:spcPct val="288889"/>
              </a:lnSpc>
              <a:buNone/>
            </a:pPr>
            <a:r>
              <a:rPr lang="en-US" sz="800" b="1" dirty="0">
                <a:solidFill>
                  <a:srgbClr val="00FFFF"/>
                </a:solidFill>
                <a:latin typeface="Calibri" pitchFamily="34" charset="0"/>
                <a:ea typeface="Calibri" pitchFamily="34" charset="-122"/>
                <a:cs typeface="Calibri" pitchFamily="34" charset="-120"/>
              </a:rPr>
              <a:t>03
</a:t>
            </a:r>
            <a:endParaRPr lang="en-US" sz="800" dirty="0"/>
          </a:p>
        </p:txBody>
      </p:sp>
      <p:pic>
        <p:nvPicPr>
          <p:cNvPr id="20" name="Image 2" descr="preencoded.png"/>
          <p:cNvPicPr>
            <a:picLocks noChangeAspect="1"/>
          </p:cNvPicPr>
          <p:nvPr/>
        </p:nvPicPr>
        <p:blipFill>
          <a:blip r:embed="rId5"/>
          <a:srcRect/>
          <a:stretch/>
        </p:blipFill>
        <p:spPr>
          <a:xfrm>
            <a:off x="865298" y="1881273"/>
            <a:ext cx="2133546" cy="1168371"/>
          </a:xfrm>
          <a:prstGeom prst="rect">
            <a:avLst/>
          </a:prstGeom>
        </p:spPr>
      </p:pic>
      <p:pic>
        <p:nvPicPr>
          <p:cNvPr id="21" name="Image 3" descr="preencoded.png"/>
          <p:cNvPicPr>
            <a:picLocks noChangeAspect="1"/>
          </p:cNvPicPr>
          <p:nvPr/>
        </p:nvPicPr>
        <p:blipFill>
          <a:blip r:embed="rId6"/>
          <a:srcRect/>
          <a:stretch/>
        </p:blipFill>
        <p:spPr>
          <a:xfrm>
            <a:off x="865298" y="3351127"/>
            <a:ext cx="2133546" cy="1168371"/>
          </a:xfrm>
          <a:prstGeom prst="rect">
            <a:avLst/>
          </a:prstGeom>
        </p:spPr>
      </p:pic>
      <p:pic>
        <p:nvPicPr>
          <p:cNvPr id="22" name="Image 4" descr="preencoded.png"/>
          <p:cNvPicPr>
            <a:picLocks noChangeAspect="1"/>
          </p:cNvPicPr>
          <p:nvPr/>
        </p:nvPicPr>
        <p:blipFill>
          <a:blip r:embed="rId7"/>
          <a:srcRect/>
          <a:stretch/>
        </p:blipFill>
        <p:spPr>
          <a:xfrm>
            <a:off x="865298" y="4820981"/>
            <a:ext cx="2133546" cy="1168371"/>
          </a:xfrm>
          <a:prstGeom prst="rect">
            <a:avLst/>
          </a:prstGeom>
        </p:spPr>
      </p:pic>
      <p:sp>
        <p:nvSpPr>
          <p:cNvPr id="23" name="Text 16"/>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A0E2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90895" y="2285943"/>
            <a:ext cx="3809905" cy="3809905"/>
          </a:xfrm>
          <a:prstGeom prst="rect">
            <a:avLst/>
          </a:prstGeom>
        </p:spPr>
      </p:pic>
      <p:sp>
        <p:nvSpPr>
          <p:cNvPr id="3" name="Shape 0"/>
          <p:cNvSpPr/>
          <p:nvPr/>
        </p:nvSpPr>
        <p:spPr>
          <a:xfrm>
            <a:off x="1817642" y="2930454"/>
            <a:ext cx="8556411" cy="2522212"/>
          </a:xfrm>
          <a:prstGeom prst="roundRect">
            <a:avLst>
              <a:gd name="adj" fmla="val 8056"/>
            </a:avLst>
          </a:prstGeom>
          <a:solidFill>
            <a:srgbClr val="00FFFF">
              <a:alpha val="7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11175721" y="5841854"/>
            <a:ext cx="634984" cy="634984"/>
          </a:xfrm>
          <a:prstGeom prst="rect">
            <a:avLst/>
          </a:prstGeom>
        </p:spPr>
      </p:pic>
      <p:pic>
        <p:nvPicPr>
          <p:cNvPr id="5" name="Image 2" descr="preencoded.png"/>
          <p:cNvPicPr>
            <a:picLocks noChangeAspect="1"/>
          </p:cNvPicPr>
          <p:nvPr/>
        </p:nvPicPr>
        <p:blipFill>
          <a:blip r:embed="rId5"/>
          <a:stretch>
            <a:fillRect/>
          </a:stretch>
        </p:blipFill>
        <p:spPr>
          <a:xfrm>
            <a:off x="380990" y="5841854"/>
            <a:ext cx="634984" cy="634984"/>
          </a:xfrm>
          <a:prstGeom prst="rect">
            <a:avLst/>
          </a:prstGeom>
        </p:spPr>
      </p:pic>
      <p:pic>
        <p:nvPicPr>
          <p:cNvPr id="6" name="Image 3" descr="preencoded.png"/>
          <p:cNvPicPr>
            <a:picLocks noChangeAspect="1"/>
          </p:cNvPicPr>
          <p:nvPr/>
        </p:nvPicPr>
        <p:blipFill>
          <a:blip r:embed="rId6"/>
          <a:stretch>
            <a:fillRect/>
          </a:stretch>
        </p:blipFill>
        <p:spPr>
          <a:xfrm>
            <a:off x="11175721" y="380990"/>
            <a:ext cx="634984" cy="634984"/>
          </a:xfrm>
          <a:prstGeom prst="rect">
            <a:avLst/>
          </a:prstGeom>
        </p:spPr>
      </p:pic>
      <p:pic>
        <p:nvPicPr>
          <p:cNvPr id="7" name="Image 4" descr="preencoded.png"/>
          <p:cNvPicPr>
            <a:picLocks noChangeAspect="1"/>
          </p:cNvPicPr>
          <p:nvPr/>
        </p:nvPicPr>
        <p:blipFill>
          <a:blip r:embed="rId7"/>
          <a:stretch>
            <a:fillRect/>
          </a:stretch>
        </p:blipFill>
        <p:spPr>
          <a:xfrm>
            <a:off x="380990" y="380990"/>
            <a:ext cx="634984" cy="634984"/>
          </a:xfrm>
          <a:prstGeom prst="rect">
            <a:avLst/>
          </a:prstGeom>
        </p:spPr>
      </p:pic>
      <p:pic>
        <p:nvPicPr>
          <p:cNvPr id="8" name="Image 5" descr="preencoded.png"/>
          <p:cNvPicPr>
            <a:picLocks noChangeAspect="1"/>
          </p:cNvPicPr>
          <p:nvPr/>
        </p:nvPicPr>
        <p:blipFill>
          <a:blip r:embed="rId8"/>
          <a:stretch>
            <a:fillRect/>
          </a:stretch>
        </p:blipFill>
        <p:spPr>
          <a:xfrm>
            <a:off x="0" y="6819730"/>
            <a:ext cx="12145975" cy="914400"/>
          </a:xfrm>
          <a:prstGeom prst="rect">
            <a:avLst/>
          </a:prstGeom>
        </p:spPr>
      </p:pic>
      <p:pic>
        <p:nvPicPr>
          <p:cNvPr id="9" name="Image 6" descr="preencoded.png"/>
          <p:cNvPicPr>
            <a:picLocks noChangeAspect="1"/>
          </p:cNvPicPr>
          <p:nvPr/>
        </p:nvPicPr>
        <p:blipFill>
          <a:blip r:embed="rId9"/>
          <a:stretch>
            <a:fillRect/>
          </a:stretch>
        </p:blipFill>
        <p:spPr>
          <a:xfrm>
            <a:off x="0" y="0"/>
            <a:ext cx="12145975" cy="38099"/>
          </a:xfrm>
          <a:prstGeom prst="rect">
            <a:avLst/>
          </a:prstGeom>
        </p:spPr>
      </p:pic>
      <p:sp>
        <p:nvSpPr>
          <p:cNvPr id="10" name="Shape 1"/>
          <p:cNvSpPr/>
          <p:nvPr/>
        </p:nvSpPr>
        <p:spPr>
          <a:xfrm>
            <a:off x="5740256" y="3657509"/>
            <a:ext cx="711182" cy="63498"/>
          </a:xfrm>
          <a:prstGeom prst="rect">
            <a:avLst/>
          </a:prstGeom>
          <a:solidFill>
            <a:srgbClr val="00FFFF"/>
          </a:solidFill>
          <a:ln/>
        </p:spPr>
        <p:txBody>
          <a:bodyPr/>
          <a:lstStyle/>
          <a:p>
            <a:endParaRPr lang="en-IN"/>
          </a:p>
        </p:txBody>
      </p:sp>
      <p:sp>
        <p:nvSpPr>
          <p:cNvPr id="11" name="Text 2"/>
          <p:cNvSpPr/>
          <p:nvPr/>
        </p:nvSpPr>
        <p:spPr>
          <a:xfrm>
            <a:off x="5212161" y="2040021"/>
            <a:ext cx="1767372" cy="395802"/>
          </a:xfrm>
          <a:prstGeom prst="rect">
            <a:avLst/>
          </a:prstGeom>
          <a:noFill/>
          <a:ln/>
        </p:spPr>
        <p:txBody>
          <a:bodyPr wrap="square" lIns="1016" tIns="1016" rIns="1016" bIns="1016" rtlCol="0" anchor="t"/>
          <a:lstStyle/>
          <a:p>
            <a:pPr marL="0" indent="0" algn="ctr">
              <a:lnSpc>
                <a:spcPct val="119893"/>
              </a:lnSpc>
              <a:buNone/>
            </a:pPr>
            <a:r>
              <a:rPr lang="en-US" sz="2300" b="1" dirty="0">
                <a:solidFill>
                  <a:srgbClr val="00FFFF"/>
                </a:solidFill>
                <a:latin typeface="Trebuchet MS" pitchFamily="34" charset="0"/>
                <a:ea typeface="Trebuchet MS" pitchFamily="34" charset="-122"/>
                <a:cs typeface="Trebuchet MS" pitchFamily="34" charset="-120"/>
              </a:rPr>
              <a:t>Conclusion
</a:t>
            </a:r>
            <a:endParaRPr lang="en-US" sz="2300" dirty="0"/>
          </a:p>
        </p:txBody>
      </p:sp>
      <p:sp>
        <p:nvSpPr>
          <p:cNvPr id="12" name="Text 3"/>
          <p:cNvSpPr/>
          <p:nvPr/>
        </p:nvSpPr>
        <p:spPr>
          <a:xfrm>
            <a:off x="2242288" y="3238286"/>
            <a:ext cx="7757919" cy="1906540"/>
          </a:xfrm>
          <a:prstGeom prst="rect">
            <a:avLst/>
          </a:prstGeom>
          <a:noFill/>
          <a:ln/>
        </p:spPr>
        <p:txBody>
          <a:bodyPr wrap="square" lIns="1016" tIns="1016" rIns="1016" bIns="1016" rtlCol="0" anchor="t"/>
          <a:lstStyle/>
          <a:p>
            <a:pPr marL="0" indent="0" algn="l">
              <a:lnSpc>
                <a:spcPct val="166829"/>
              </a:lnSpc>
              <a:buNone/>
            </a:pPr>
            <a:r>
              <a:rPr lang="en-US" sz="1400" dirty="0">
                <a:solidFill>
                  <a:srgbClr val="B8C5D6"/>
                </a:solidFill>
                <a:latin typeface="Trebuchet MS" pitchFamily="34" charset="0"/>
                <a:ea typeface="Trebuchet MS" pitchFamily="34" charset="-122"/>
                <a:cs typeface="Trebuchet MS" pitchFamily="34" charset="-120"/>
              </a:rPr>
              <a:t>In conclusion, our personal file organizer project effectively addresses the challenges of document management. By implementing a user-friendly interface and robust features, we enhance productivity and organization. Future enhancements could include AI-driven categorization and cloud integration. We recommend ongoing user feedback to refine the system further. Together, we can transform how individuals manage their files, paving the way for a more organized future.
</a:t>
            </a:r>
            <a:endParaRPr lang="en-US" sz="1400" dirty="0"/>
          </a:p>
        </p:txBody>
      </p:sp>
      <p:sp>
        <p:nvSpPr>
          <p:cNvPr id="13" name="Shape 4"/>
          <p:cNvSpPr/>
          <p:nvPr/>
        </p:nvSpPr>
        <p:spPr>
          <a:xfrm>
            <a:off x="5787880" y="2655686"/>
            <a:ext cx="615802" cy="54902"/>
          </a:xfrm>
          <a:prstGeom prst="ellipse">
            <a:avLst/>
          </a:prstGeom>
          <a:solidFill>
            <a:srgbClr val="00FFFF"/>
          </a:solidFill>
          <a:ln/>
        </p:spPr>
        <p:txBody>
          <a:bodyPr/>
          <a:lstStyle/>
          <a:p>
            <a:endParaRPr lang="en-IN"/>
          </a:p>
        </p:txBody>
      </p:sp>
      <p:sp>
        <p:nvSpPr>
          <p:cNvPr id="14" name="Text 5"/>
          <p:cNvSpPr/>
          <p:nvPr/>
        </p:nvSpPr>
        <p:spPr>
          <a:xfrm>
            <a:off x="10362895" y="6537960"/>
            <a:ext cx="1691640" cy="256032"/>
          </a:xfrm>
          <a:prstGeom prst="rect">
            <a:avLst/>
          </a:prstGeom>
          <a:solidFill>
            <a:srgbClr val="000000">
              <a:alpha val="45000"/>
            </a:srgbClr>
          </a:solid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501</TotalTime>
  <Words>955</Words>
  <Application>Microsoft Office PowerPoint</Application>
  <PresentationFormat>Widescreen</PresentationFormat>
  <Paragraphs>111</Paragraphs>
  <Slides>18</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Mohya Reddy</cp:lastModifiedBy>
  <cp:revision>8</cp:revision>
  <dcterms:created xsi:type="dcterms:W3CDTF">2026-10-12T10:12:18Z</dcterms:created>
  <dcterms:modified xsi:type="dcterms:W3CDTF">2026-10-13T09:25:18Z</dcterms:modified>
</cp:coreProperties>
</file>